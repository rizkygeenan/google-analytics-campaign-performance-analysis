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embeddedFontLst>
    <p:embeddedFont>
      <p:font typeface="Inter SemiBold"/>
      <p:regular r:id="rId17"/>
      <p:bold r:id="rId18"/>
      <p:italic r:id="rId19"/>
      <p:boldItalic r:id="rId20"/>
    </p:embeddedFont>
    <p:embeddedFont>
      <p:font typeface="Plus Jakarta Sans"/>
      <p:regular r:id="rId21"/>
      <p:bold r:id="rId22"/>
      <p:italic r:id="rId23"/>
      <p:boldItalic r:id="rId24"/>
    </p:embeddedFont>
    <p:embeddedFont>
      <p:font typeface="Inter"/>
      <p:regular r:id="rId25"/>
      <p:bold r:id="rId26"/>
      <p:italic r:id="rId27"/>
      <p:boldItalic r:id="rId28"/>
    </p:embeddedFont>
    <p:embeddedFont>
      <p:font typeface="Plus Jakarta Sans SemiBold"/>
      <p:regular r:id="rId29"/>
      <p:bold r:id="rId30"/>
      <p:italic r:id="rId31"/>
      <p:boldItalic r:id="rId32"/>
    </p:embeddedFont>
    <p:embeddedFont>
      <p:font typeface="Roboto Mono"/>
      <p:regular r:id="rId33"/>
      <p:bold r:id="rId34"/>
      <p:italic r:id="rId35"/>
      <p:boldItalic r:id="rId36"/>
    </p:embeddedFont>
    <p:embeddedFont>
      <p:font typeface="Inter Medium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nterMedium-boldItalic.fntdata"/><Relationship Id="rId20" Type="http://schemas.openxmlformats.org/officeDocument/2006/relationships/font" Target="fonts/InterSemiBold-boldItalic.fntdata"/><Relationship Id="rId22" Type="http://schemas.openxmlformats.org/officeDocument/2006/relationships/font" Target="fonts/PlusJakartaSans-bold.fntdata"/><Relationship Id="rId21" Type="http://schemas.openxmlformats.org/officeDocument/2006/relationships/font" Target="fonts/PlusJakartaSans-regular.fntdata"/><Relationship Id="rId24" Type="http://schemas.openxmlformats.org/officeDocument/2006/relationships/font" Target="fonts/PlusJakartaSans-boldItalic.fntdata"/><Relationship Id="rId23" Type="http://schemas.openxmlformats.org/officeDocument/2006/relationships/font" Target="fonts/PlusJakartaSans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-bold.fntdata"/><Relationship Id="rId25" Type="http://schemas.openxmlformats.org/officeDocument/2006/relationships/font" Target="fonts/Inter-regular.fntdata"/><Relationship Id="rId28" Type="http://schemas.openxmlformats.org/officeDocument/2006/relationships/font" Target="fonts/Inter-boldItalic.fntdata"/><Relationship Id="rId27" Type="http://schemas.openxmlformats.org/officeDocument/2006/relationships/font" Target="fonts/Inter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lusJakartaSansSemiBold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lusJakartaSansSemiBold-italic.fntdata"/><Relationship Id="rId30" Type="http://schemas.openxmlformats.org/officeDocument/2006/relationships/font" Target="fonts/PlusJakartaSansSemiBold-bold.fntdata"/><Relationship Id="rId11" Type="http://schemas.openxmlformats.org/officeDocument/2006/relationships/slide" Target="slides/slide6.xml"/><Relationship Id="rId33" Type="http://schemas.openxmlformats.org/officeDocument/2006/relationships/font" Target="fonts/RobotoMono-regular.fntdata"/><Relationship Id="rId10" Type="http://schemas.openxmlformats.org/officeDocument/2006/relationships/slide" Target="slides/slide5.xml"/><Relationship Id="rId32" Type="http://schemas.openxmlformats.org/officeDocument/2006/relationships/font" Target="fonts/PlusJakartaSansSemiBold-boldItalic.fntdata"/><Relationship Id="rId13" Type="http://schemas.openxmlformats.org/officeDocument/2006/relationships/slide" Target="slides/slide8.xml"/><Relationship Id="rId35" Type="http://schemas.openxmlformats.org/officeDocument/2006/relationships/font" Target="fonts/RobotoMono-italic.fntdata"/><Relationship Id="rId12" Type="http://schemas.openxmlformats.org/officeDocument/2006/relationships/slide" Target="slides/slide7.xml"/><Relationship Id="rId34" Type="http://schemas.openxmlformats.org/officeDocument/2006/relationships/font" Target="fonts/RobotoMono-bold.fntdata"/><Relationship Id="rId15" Type="http://schemas.openxmlformats.org/officeDocument/2006/relationships/slide" Target="slides/slide10.xml"/><Relationship Id="rId37" Type="http://schemas.openxmlformats.org/officeDocument/2006/relationships/font" Target="fonts/InterMedium-regular.fntdata"/><Relationship Id="rId14" Type="http://schemas.openxmlformats.org/officeDocument/2006/relationships/slide" Target="slides/slide9.xml"/><Relationship Id="rId36" Type="http://schemas.openxmlformats.org/officeDocument/2006/relationships/font" Target="fonts/RobotoMono-boldItalic.fntdata"/><Relationship Id="rId17" Type="http://schemas.openxmlformats.org/officeDocument/2006/relationships/font" Target="fonts/InterSemiBold-regular.fntdata"/><Relationship Id="rId39" Type="http://schemas.openxmlformats.org/officeDocument/2006/relationships/font" Target="fonts/InterMedium-italic.fntdata"/><Relationship Id="rId16" Type="http://schemas.openxmlformats.org/officeDocument/2006/relationships/slide" Target="slides/slide11.xml"/><Relationship Id="rId38" Type="http://schemas.openxmlformats.org/officeDocument/2006/relationships/font" Target="fonts/InterMedium-bold.fntdata"/><Relationship Id="rId19" Type="http://schemas.openxmlformats.org/officeDocument/2006/relationships/font" Target="fonts/InterSemiBold-italic.fntdata"/><Relationship Id="rId18" Type="http://schemas.openxmlformats.org/officeDocument/2006/relationships/font" Target="fonts/InterSemi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f64c245c8c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g3f64c245c8c_0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f64c245c8c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g3f64c245c8c_0_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2.png"/><Relationship Id="rId6" Type="http://schemas.openxmlformats.org/officeDocument/2006/relationships/image" Target="../media/image9.png"/><Relationship Id="rId7" Type="http://schemas.openxmlformats.org/officeDocument/2006/relationships/image" Target="../media/image16.png"/><Relationship Id="rId8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32.png"/><Relationship Id="rId10" Type="http://schemas.openxmlformats.org/officeDocument/2006/relationships/image" Target="../media/image12.png"/><Relationship Id="rId9" Type="http://schemas.openxmlformats.org/officeDocument/2006/relationships/image" Target="../media/image7.png"/><Relationship Id="rId5" Type="http://schemas.openxmlformats.org/officeDocument/2006/relationships/image" Target="../media/image30.png"/><Relationship Id="rId6" Type="http://schemas.openxmlformats.org/officeDocument/2006/relationships/image" Target="../media/image10.png"/><Relationship Id="rId7" Type="http://schemas.openxmlformats.org/officeDocument/2006/relationships/image" Target="../media/image6.png"/><Relationship Id="rId8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11" Type="http://schemas.openxmlformats.org/officeDocument/2006/relationships/image" Target="../media/image15.png"/><Relationship Id="rId10" Type="http://schemas.openxmlformats.org/officeDocument/2006/relationships/image" Target="../media/image12.png"/><Relationship Id="rId12" Type="http://schemas.openxmlformats.org/officeDocument/2006/relationships/image" Target="../media/image14.png"/><Relationship Id="rId9" Type="http://schemas.openxmlformats.org/officeDocument/2006/relationships/image" Target="../media/image10.png"/><Relationship Id="rId5" Type="http://schemas.openxmlformats.org/officeDocument/2006/relationships/image" Target="../media/image25.png"/><Relationship Id="rId6" Type="http://schemas.openxmlformats.org/officeDocument/2006/relationships/image" Target="../media/image17.png"/><Relationship Id="rId7" Type="http://schemas.openxmlformats.org/officeDocument/2006/relationships/image" Target="../media/image8.png"/><Relationship Id="rId8" Type="http://schemas.openxmlformats.org/officeDocument/2006/relationships/image" Target="../media/image2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2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20.png"/><Relationship Id="rId5" Type="http://schemas.openxmlformats.org/officeDocument/2006/relationships/image" Target="../media/image28.png"/><Relationship Id="rId6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8.png"/><Relationship Id="rId5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23.png"/><Relationship Id="rId5" Type="http://schemas.openxmlformats.org/officeDocument/2006/relationships/image" Target="../media/image26.png"/><Relationship Id="rId6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19.png"/><Relationship Id="rId5" Type="http://schemas.openxmlformats.org/officeDocument/2006/relationships/image" Target="../media/image21.png"/><Relationship Id="rId6" Type="http://schemas.openxmlformats.org/officeDocument/2006/relationships/image" Target="../media/image29.png"/><Relationship Id="rId7" Type="http://schemas.openxmlformats.org/officeDocument/2006/relationships/image" Target="../media/image31.png"/><Relationship Id="rId8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3">
            <a:alphaModFix/>
          </a:blip>
          <a:srcRect b="62719" l="72864" r="0" t="0"/>
          <a:stretch/>
        </p:blipFill>
        <p:spPr>
          <a:xfrm>
            <a:off x="0" y="2575875"/>
            <a:ext cx="4723350" cy="4282124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100375" y="2726977"/>
            <a:ext cx="9991248" cy="594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Campaign Performance Analysis Report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286000" y="3464123"/>
            <a:ext cx="762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Analisis Komprehensif Performa Digital Marketing &amp; Perilaku Pengguna Menggunakan Google Analytics (Web Only)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4786350" y="4317211"/>
            <a:ext cx="26193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 Periode: 1 Jan - 31 Jan 2026  </a:t>
            </a:r>
            <a:endParaRPr b="0" i="0" sz="1125" u="none" cap="none" strike="noStrike">
              <a:solidFill>
                <a:srgbClr val="64748B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Dataset: Google Merchandise Store</a:t>
            </a:r>
            <a:endParaRPr/>
          </a:p>
        </p:txBody>
      </p:sp>
      <p:pic>
        <p:nvPicPr>
          <p:cNvPr descr="image.png" id="89" name="Google Shape;8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3575" y="4327773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0" name="Google Shape;90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23350" y="4496002"/>
            <a:ext cx="12382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/>
          <p:nvPr/>
        </p:nvSpPr>
        <p:spPr>
          <a:xfrm>
            <a:off x="4280700" y="2079663"/>
            <a:ext cx="3630600" cy="496200"/>
          </a:xfrm>
          <a:prstGeom prst="roundRect">
            <a:avLst>
              <a:gd fmla="val 16667" name="adj"/>
            </a:avLst>
          </a:prstGeom>
          <a:solidFill>
            <a:srgbClr val="F1F5F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2286009" y="2212282"/>
            <a:ext cx="7620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D85C6"/>
                </a:solidFill>
                <a:latin typeface="Inter"/>
                <a:ea typeface="Inter"/>
                <a:cs typeface="Inter"/>
                <a:sym typeface="Inter"/>
              </a:rPr>
              <a:t>Muhammad Rizky Ginanjar | DABI 23</a:t>
            </a:r>
            <a:endParaRPr b="1">
              <a:solidFill>
                <a:srgbClr val="3D85C6"/>
              </a:solidFill>
              <a:highlight>
                <a:srgbClr val="0284C7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7" name="Google Shape;9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71700"/>
            <a:ext cx="5334000" cy="3181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171700"/>
            <a:ext cx="5334000" cy="3181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6324600"/>
            <a:ext cx="121920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12401550" y="6477000"/>
            <a:ext cx="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Slide 2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104900" y="2419350"/>
            <a:ext cx="4780597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Tujuan Analisis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867525" y="2419350"/>
            <a:ext cx="4730591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Metode &amp; Ruang Lingkup</a:t>
            </a:r>
            <a:endParaRPr/>
          </a:p>
        </p:txBody>
      </p:sp>
      <p:pic>
        <p:nvPicPr>
          <p:cNvPr descr="image.png" id="104" name="Google Shape;104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9150" y="2443162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933450" y="2950368"/>
            <a:ext cx="762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1009650" y="2952750"/>
            <a:ext cx="46482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Evaluasi Performa Campaign: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Mengidentifikasi campaign digital marketing terbaik dan terburuk berdasarkan metrik utama.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933450" y="3474243"/>
            <a:ext cx="762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1009650" y="3476625"/>
            <a:ext cx="46482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Analisis User Behavior: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Mempelajari tren kunjungan (sessions) dan karakteristik audiens (new vs. returning users).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933450" y="3998118"/>
            <a:ext cx="762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1009650" y="4000500"/>
            <a:ext cx="46482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Optimasi Konversi: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Melacak efisiensi key event / conversion rate guna memaksimalkan ROI bisnis.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933450" y="4521993"/>
            <a:ext cx="762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1009650" y="4524375"/>
            <a:ext cx="46482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Strategic Recommendations: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Memberikan langkah perbaikan berbasis data untuk strategi marketing mendatang.</a:t>
            </a:r>
            <a:endParaRPr/>
          </a:p>
        </p:txBody>
      </p:sp>
      <p:pic>
        <p:nvPicPr>
          <p:cNvPr descr="image.png" id="113" name="Google Shape;113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34150" y="2443162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4"/>
          <p:cNvSpPr txBox="1"/>
          <p:nvPr/>
        </p:nvSpPr>
        <p:spPr>
          <a:xfrm>
            <a:off x="6648450" y="2950368"/>
            <a:ext cx="762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6724650" y="2952750"/>
            <a:ext cx="464820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Tools Utama: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Google Analytics (Exploration &amp; Custom Reports).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6648450" y="3259931"/>
            <a:ext cx="762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6724650" y="3262312"/>
            <a:ext cx="464820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Dataset: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Demo Account Google Merchandise Store (Web Only).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6648450" y="3569493"/>
            <a:ext cx="762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6724650" y="3571875"/>
            <a:ext cx="464820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Rentang Waktu: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1 Januari 2026 hingga 31 Januari 2026.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6648450" y="3879056"/>
            <a:ext cx="762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6724650" y="3881437"/>
            <a:ext cx="4648200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Key Metrics Fokus: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Total Users, Active Users, Sessions, Engagement Rate, Bounce Rate, Key Event Rate (Conversion Rate), dan Total Revenue.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714375" y="476250"/>
            <a:ext cx="11451431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Pendahuluan: Tujuan &amp; Metode Analisis</a:t>
            </a:r>
            <a:endParaRPr/>
          </a:p>
        </p:txBody>
      </p:sp>
      <p:sp>
        <p:nvSpPr>
          <p:cNvPr id="123" name="Google Shape;123;p14"/>
          <p:cNvSpPr/>
          <p:nvPr/>
        </p:nvSpPr>
        <p:spPr>
          <a:xfrm>
            <a:off x="571500" y="476250"/>
            <a:ext cx="47625" cy="42862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8" name="Google Shape;12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20300"/>
            <a:ext cx="5334000" cy="4284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620291"/>
            <a:ext cx="5334000" cy="42840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1891750"/>
            <a:ext cx="4933950" cy="3402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34150" y="4616051"/>
            <a:ext cx="4838700" cy="1040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6324600"/>
            <a:ext cx="121920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5"/>
          <p:cNvSpPr txBox="1"/>
          <p:nvPr/>
        </p:nvSpPr>
        <p:spPr>
          <a:xfrm>
            <a:off x="12401550" y="6477000"/>
            <a:ext cx="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Slide 3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771525" y="5462292"/>
            <a:ext cx="49341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Visualisasi Tren Sesi Pengguna Bulanan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6819900" y="1867941"/>
            <a:ext cx="4780597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Temuan Utama Session Trend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924000" y="2106071"/>
            <a:ext cx="46293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Sessions Trend</a:t>
            </a:r>
            <a:endParaRPr/>
          </a:p>
        </p:txBody>
      </p:sp>
      <p:pic>
        <p:nvPicPr>
          <p:cNvPr descr="image.png" id="138" name="Google Shape;138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34150" y="1891754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5"/>
          <p:cNvSpPr txBox="1"/>
          <p:nvPr/>
        </p:nvSpPr>
        <p:spPr>
          <a:xfrm>
            <a:off x="6648450" y="2398960"/>
            <a:ext cx="762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6724650" y="2401341"/>
            <a:ext cx="4648200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Pola Mingguan (Weekday Peak):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Traffic website konsisten tinggi pada hari kerja (weekdays) dan mengalami penurunan signifikan pada akhir pekan (weekend).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6648450" y="3137148"/>
            <a:ext cx="762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6724650" y="3139529"/>
            <a:ext cx="46482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Lonjakan Sementara (Spike):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Terjadi lonjakan tajam (~5.000–6.000 sesi) di pertengahan bulan akibat aktivitas promo/campaign khusus.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6648450" y="3891998"/>
            <a:ext cx="762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6724650" y="3875642"/>
            <a:ext cx="46482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Baseline Normal: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Di luar periode spike, traffic stabil pada kisaran 1.500–2.500 sesi per hari.</a:t>
            </a:r>
            <a:endParaRPr/>
          </a:p>
        </p:txBody>
      </p:sp>
      <p:sp>
        <p:nvSpPr>
          <p:cNvPr id="145" name="Google Shape;145;p15"/>
          <p:cNvSpPr txBox="1"/>
          <p:nvPr/>
        </p:nvSpPr>
        <p:spPr>
          <a:xfrm>
            <a:off x="6762750" y="4827984"/>
            <a:ext cx="464058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369A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Rekomendasi Waktu Promosi</a:t>
            </a:r>
            <a:endParaRPr/>
          </a:p>
        </p:txBody>
      </p:sp>
      <p:sp>
        <p:nvSpPr>
          <p:cNvPr id="146" name="Google Shape;146;p15"/>
          <p:cNvSpPr txBox="1"/>
          <p:nvPr/>
        </p:nvSpPr>
        <p:spPr>
          <a:xfrm>
            <a:off x="6762750" y="5066109"/>
            <a:ext cx="44196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Rilis campaign di pertengahan minggu (Rabu/Kamis) untuk memaksimalkan jangkauan organik dan interaksi audiens.</a:t>
            </a:r>
            <a:endParaRPr/>
          </a:p>
        </p:txBody>
      </p:sp>
      <p:sp>
        <p:nvSpPr>
          <p:cNvPr id="147" name="Google Shape;147;p15"/>
          <p:cNvSpPr txBox="1"/>
          <p:nvPr/>
        </p:nvSpPr>
        <p:spPr>
          <a:xfrm>
            <a:off x="714375" y="476250"/>
            <a:ext cx="11451431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Hasil Analisis: Custom Report Session Trend</a:t>
            </a:r>
            <a:endParaRPr/>
          </a:p>
        </p:txBody>
      </p:sp>
      <p:sp>
        <p:nvSpPr>
          <p:cNvPr id="148" name="Google Shape;148;p15"/>
          <p:cNvSpPr/>
          <p:nvPr/>
        </p:nvSpPr>
        <p:spPr>
          <a:xfrm>
            <a:off x="571500" y="476250"/>
            <a:ext cx="47625" cy="42862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9" name="Google Shape;149;p1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156375" y="2300625"/>
            <a:ext cx="4164246" cy="293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4" name="Google Shape;15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324600"/>
            <a:ext cx="121920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6"/>
          <p:cNvSpPr txBox="1"/>
          <p:nvPr/>
        </p:nvSpPr>
        <p:spPr>
          <a:xfrm>
            <a:off x="12392025" y="6477000"/>
            <a:ext cx="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Slide 4</a:t>
            </a:r>
            <a:endParaRPr/>
          </a:p>
        </p:txBody>
      </p:sp>
      <p:pic>
        <p:nvPicPr>
          <p:cNvPr descr="image.png" id="157" name="Google Shape;15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5715001"/>
            <a:ext cx="11049000" cy="98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6"/>
          <p:cNvSpPr txBox="1"/>
          <p:nvPr/>
        </p:nvSpPr>
        <p:spPr>
          <a:xfrm>
            <a:off x="800100" y="5869928"/>
            <a:ext cx="11161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369A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Langkah Strategis Retensi Pengguna</a:t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800100" y="6108053"/>
            <a:ext cx="10629900" cy="4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Terapkan kampanye email remarketing, push notification, atau penawaran khusus member baru. Optimalkan landing page dengan call-to-action (CTA) pendaftaran akun untuk mengikat audiens jangka panjang.</a:t>
            </a:r>
            <a:endParaRPr/>
          </a:p>
        </p:txBody>
      </p:sp>
      <p:grpSp>
        <p:nvGrpSpPr>
          <p:cNvPr id="160" name="Google Shape;160;p16"/>
          <p:cNvGrpSpPr/>
          <p:nvPr/>
        </p:nvGrpSpPr>
        <p:grpSpPr>
          <a:xfrm>
            <a:off x="571500" y="3768761"/>
            <a:ext cx="3524250" cy="1857375"/>
            <a:chOff x="571500" y="2127498"/>
            <a:chExt cx="3524250" cy="1857375"/>
          </a:xfrm>
        </p:grpSpPr>
        <p:pic>
          <p:nvPicPr>
            <p:cNvPr descr="image.png" id="161" name="Google Shape;161;p1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71500" y="2127498"/>
              <a:ext cx="3524250" cy="18573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2" name="Google Shape;162;p16"/>
            <p:cNvSpPr txBox="1"/>
            <p:nvPr/>
          </p:nvSpPr>
          <p:spPr>
            <a:xfrm>
              <a:off x="819150" y="2403723"/>
              <a:ext cx="31803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0F172A"/>
                  </a:solidFill>
                  <a:latin typeface="Plus Jakarta Sans SemiBold"/>
                  <a:ea typeface="Plus Jakarta Sans SemiBold"/>
                  <a:cs typeface="Plus Jakarta Sans SemiBold"/>
                  <a:sym typeface="Plus Jakarta Sans SemiBold"/>
                </a:rPr>
                <a:t>Dominasi Pengguna Baru</a:t>
              </a:r>
              <a:endParaRPr/>
            </a:p>
          </p:txBody>
        </p:sp>
        <p:sp>
          <p:nvSpPr>
            <p:cNvPr id="163" name="Google Shape;163;p16"/>
            <p:cNvSpPr txBox="1"/>
            <p:nvPr/>
          </p:nvSpPr>
          <p:spPr>
            <a:xfrm>
              <a:off x="819150" y="2737098"/>
              <a:ext cx="3029100" cy="88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50" u="none" cap="none" strike="noStrike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Sebagian besar traffic dikontribusi oleh </a:t>
              </a:r>
              <a:r>
                <a:rPr b="1" i="0" lang="en-US" sz="1050" u="none" cap="none" strike="noStrike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New Users</a:t>
              </a:r>
              <a:r>
                <a:rPr b="0" i="0" lang="en-US" sz="1050" u="none" cap="none" strike="noStrike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. Hal ini membuktikan bahwa strategi brand awareness dan campaign akuisisi berjalan sangat efektif memperluas jangkauan.</a:t>
              </a:r>
              <a:endParaRPr/>
            </a:p>
          </p:txBody>
        </p:sp>
      </p:grpSp>
      <p:grpSp>
        <p:nvGrpSpPr>
          <p:cNvPr id="164" name="Google Shape;164;p16"/>
          <p:cNvGrpSpPr/>
          <p:nvPr/>
        </p:nvGrpSpPr>
        <p:grpSpPr>
          <a:xfrm>
            <a:off x="4333875" y="3768761"/>
            <a:ext cx="3524250" cy="1857375"/>
            <a:chOff x="4333875" y="2127498"/>
            <a:chExt cx="3524250" cy="1857375"/>
          </a:xfrm>
        </p:grpSpPr>
        <p:pic>
          <p:nvPicPr>
            <p:cNvPr descr="image.png" id="165" name="Google Shape;165;p1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333875" y="2127498"/>
              <a:ext cx="3524250" cy="18573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6" name="Google Shape;166;p16"/>
            <p:cNvSpPr txBox="1"/>
            <p:nvPr/>
          </p:nvSpPr>
          <p:spPr>
            <a:xfrm>
              <a:off x="4581525" y="2403723"/>
              <a:ext cx="31803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0F172A"/>
                  </a:solidFill>
                  <a:latin typeface="Plus Jakarta Sans SemiBold"/>
                  <a:ea typeface="Plus Jakarta Sans SemiBold"/>
                  <a:cs typeface="Plus Jakarta Sans SemiBold"/>
                  <a:sym typeface="Plus Jakarta Sans SemiBold"/>
                </a:rPr>
                <a:t>Returning Users Rendah</a:t>
              </a:r>
              <a:endParaRPr/>
            </a:p>
          </p:txBody>
        </p:sp>
        <p:sp>
          <p:nvSpPr>
            <p:cNvPr id="167" name="Google Shape;167;p16"/>
            <p:cNvSpPr txBox="1"/>
            <p:nvPr/>
          </p:nvSpPr>
          <p:spPr>
            <a:xfrm>
              <a:off x="4581525" y="2737098"/>
              <a:ext cx="3029100" cy="113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50" u="none" cap="none" strike="noStrike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Proporsi </a:t>
              </a:r>
              <a:r>
                <a:rPr b="1" i="0" lang="en-US" sz="1050" u="none" cap="none" strike="noStrike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Returning Users</a:t>
              </a:r>
              <a:r>
                <a:rPr b="0" i="0" lang="en-US" sz="1050" u="none" cap="none" strike="noStrike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 jauh lebih rendah dibandingkan pengguna baru, mengindikasikan masih kurangnya daya tarik bagi pengunjung untuk melakukan kunjungan berulang (repeat visits).</a:t>
              </a:r>
              <a:endParaRPr/>
            </a:p>
          </p:txBody>
        </p:sp>
      </p:grpSp>
      <p:grpSp>
        <p:nvGrpSpPr>
          <p:cNvPr id="168" name="Google Shape;168;p16"/>
          <p:cNvGrpSpPr/>
          <p:nvPr/>
        </p:nvGrpSpPr>
        <p:grpSpPr>
          <a:xfrm>
            <a:off x="8096250" y="3768761"/>
            <a:ext cx="3524250" cy="1857375"/>
            <a:chOff x="8096250" y="2127498"/>
            <a:chExt cx="3524250" cy="1857375"/>
          </a:xfrm>
        </p:grpSpPr>
        <p:pic>
          <p:nvPicPr>
            <p:cNvPr descr="image.png" id="169" name="Google Shape;169;p1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8096250" y="2127498"/>
              <a:ext cx="3524250" cy="18573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0" name="Google Shape;170;p16"/>
            <p:cNvSpPr txBox="1"/>
            <p:nvPr/>
          </p:nvSpPr>
          <p:spPr>
            <a:xfrm>
              <a:off x="8343900" y="2403723"/>
              <a:ext cx="31803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0F172A"/>
                  </a:solidFill>
                  <a:latin typeface="Plus Jakarta Sans SemiBold"/>
                  <a:ea typeface="Plus Jakarta Sans SemiBold"/>
                  <a:cs typeface="Plus Jakarta Sans SemiBold"/>
                  <a:sym typeface="Plus Jakarta Sans SemiBold"/>
                </a:rPr>
                <a:t>Korelasi Lonjakan Spike</a:t>
              </a:r>
              <a:endParaRPr/>
            </a:p>
          </p:txBody>
        </p:sp>
        <p:sp>
          <p:nvSpPr>
            <p:cNvPr id="171" name="Google Shape;171;p16"/>
            <p:cNvSpPr txBox="1"/>
            <p:nvPr/>
          </p:nvSpPr>
          <p:spPr>
            <a:xfrm>
              <a:off x="8343900" y="2737098"/>
              <a:ext cx="3029100" cy="113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50" u="none" cap="none" strike="noStrike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Lonjakan traffic di tanggal ~22–23 sebagian besar disumbang oleh New Users baru. Kampanye sukses mendatangkan audiens pertama kali, namun belum optimal mengikat mereka kembali.</a:t>
              </a:r>
              <a:endParaRPr/>
            </a:p>
          </p:txBody>
        </p:sp>
      </p:grpSp>
      <p:sp>
        <p:nvSpPr>
          <p:cNvPr id="172" name="Google Shape;172;p16"/>
          <p:cNvSpPr txBox="1"/>
          <p:nvPr/>
        </p:nvSpPr>
        <p:spPr>
          <a:xfrm>
            <a:off x="714375" y="476250"/>
            <a:ext cx="11451431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Hasil Analisis: Custom Report User Trend (New vs Returning)</a:t>
            </a:r>
            <a:endParaRPr/>
          </a:p>
        </p:txBody>
      </p:sp>
      <p:sp>
        <p:nvSpPr>
          <p:cNvPr id="173" name="Google Shape;173;p16"/>
          <p:cNvSpPr/>
          <p:nvPr/>
        </p:nvSpPr>
        <p:spPr>
          <a:xfrm>
            <a:off x="571500" y="476250"/>
            <a:ext cx="47625" cy="42862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4" name="Google Shape;174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965837" y="1015600"/>
            <a:ext cx="3957025" cy="262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6"/>
          <p:cNvSpPr txBox="1"/>
          <p:nvPr/>
        </p:nvSpPr>
        <p:spPr>
          <a:xfrm>
            <a:off x="2088124" y="1187493"/>
            <a:ext cx="3712699" cy="1388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2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New Users Tren</a:t>
            </a:r>
            <a:r>
              <a:rPr b="1" lang="en-US" sz="902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</a:t>
            </a:r>
            <a:endParaRPr sz="1123"/>
          </a:p>
        </p:txBody>
      </p:sp>
      <p:pic>
        <p:nvPicPr>
          <p:cNvPr id="176" name="Google Shape;176;p16"/>
          <p:cNvPicPr preferRelativeResize="0"/>
          <p:nvPr/>
        </p:nvPicPr>
        <p:blipFill rotWithShape="1">
          <a:blip r:embed="rId10">
            <a:alphaModFix/>
          </a:blip>
          <a:srcRect b="11680" l="0" r="0" t="7151"/>
          <a:stretch/>
        </p:blipFill>
        <p:spPr>
          <a:xfrm>
            <a:off x="2274488" y="1422984"/>
            <a:ext cx="3339729" cy="191377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7" name="Google Shape;177;p16"/>
          <p:cNvGrpSpPr/>
          <p:nvPr/>
        </p:nvGrpSpPr>
        <p:grpSpPr>
          <a:xfrm>
            <a:off x="6269138" y="1035200"/>
            <a:ext cx="3957024" cy="2622825"/>
            <a:chOff x="1788075" y="1005800"/>
            <a:chExt cx="3957025" cy="2622825"/>
          </a:xfrm>
        </p:grpSpPr>
        <p:pic>
          <p:nvPicPr>
            <p:cNvPr descr="image.png" id="178" name="Google Shape;178;p16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1788075" y="1005800"/>
              <a:ext cx="3957025" cy="26228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9" name="Google Shape;179;p16"/>
            <p:cNvSpPr txBox="1"/>
            <p:nvPr/>
          </p:nvSpPr>
          <p:spPr>
            <a:xfrm>
              <a:off x="1910361" y="1177693"/>
              <a:ext cx="3712800" cy="13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2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Returning Users Trend</a:t>
              </a:r>
              <a:endParaRPr sz="1123"/>
            </a:p>
          </p:txBody>
        </p:sp>
        <p:pic>
          <p:nvPicPr>
            <p:cNvPr id="180" name="Google Shape;180;p16"/>
            <p:cNvPicPr preferRelativeResize="0"/>
            <p:nvPr/>
          </p:nvPicPr>
          <p:blipFill rotWithShape="1">
            <a:blip r:embed="rId10">
              <a:alphaModFix/>
            </a:blip>
            <a:srcRect b="11680" l="0" r="0" t="7151"/>
            <a:stretch/>
          </p:blipFill>
          <p:spPr>
            <a:xfrm>
              <a:off x="2096726" y="1413184"/>
              <a:ext cx="3339729" cy="191377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81" name="Google Shape;181;p16"/>
          <p:cNvPicPr preferRelativeResize="0"/>
          <p:nvPr/>
        </p:nvPicPr>
        <p:blipFill rotWithShape="1">
          <a:blip r:embed="rId11">
            <a:alphaModFix/>
          </a:blip>
          <a:srcRect b="10099" l="0" r="0" t="5392"/>
          <a:stretch/>
        </p:blipFill>
        <p:spPr>
          <a:xfrm>
            <a:off x="2267225" y="1422975"/>
            <a:ext cx="3354251" cy="198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6"/>
          <p:cNvPicPr preferRelativeResize="0"/>
          <p:nvPr/>
        </p:nvPicPr>
        <p:blipFill rotWithShape="1">
          <a:blip r:embed="rId12">
            <a:alphaModFix/>
          </a:blip>
          <a:srcRect b="11697" l="0" r="0" t="4635"/>
          <a:stretch/>
        </p:blipFill>
        <p:spPr>
          <a:xfrm>
            <a:off x="6570525" y="1407888"/>
            <a:ext cx="3354251" cy="1943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7" name="Google Shape;18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324600"/>
            <a:ext cx="121920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7"/>
          <p:cNvSpPr txBox="1"/>
          <p:nvPr/>
        </p:nvSpPr>
        <p:spPr>
          <a:xfrm>
            <a:off x="571500" y="4895850"/>
            <a:ext cx="11049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Insight:</a:t>
            </a:r>
            <a:r>
              <a:rPr b="0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Didominasi oleh campaign berniche spesifik seperti </a:t>
            </a:r>
            <a:r>
              <a:rPr b="0" i="1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Shopping Free Listings</a:t>
            </a:r>
            <a:r>
              <a:rPr b="0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dan </a:t>
            </a:r>
            <a:r>
              <a:rPr b="0" i="1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Performance Max</a:t>
            </a:r>
            <a:r>
              <a:rPr b="0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 Konten dan penargetan iklan sangat relevan dengan audiens, memicu durasi interaksi tinggi.</a:t>
            </a:r>
            <a:endParaRPr/>
          </a:p>
        </p:txBody>
      </p:sp>
      <p:sp>
        <p:nvSpPr>
          <p:cNvPr id="190" name="Google Shape;190;p17"/>
          <p:cNvSpPr txBox="1"/>
          <p:nvPr/>
        </p:nvSpPr>
        <p:spPr>
          <a:xfrm>
            <a:off x="12401550" y="6477000"/>
            <a:ext cx="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Slide 5</a:t>
            </a:r>
            <a:endParaRPr/>
          </a:p>
        </p:txBody>
      </p:sp>
      <p:sp>
        <p:nvSpPr>
          <p:cNvPr id="191" name="Google Shape;191;p17"/>
          <p:cNvSpPr/>
          <p:nvPr/>
        </p:nvSpPr>
        <p:spPr>
          <a:xfrm>
            <a:off x="571500" y="2738437"/>
            <a:ext cx="5439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7"/>
          <p:cNvSpPr/>
          <p:nvPr/>
        </p:nvSpPr>
        <p:spPr>
          <a:xfrm>
            <a:off x="1115466" y="2738437"/>
            <a:ext cx="41851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7"/>
          <p:cNvSpPr/>
          <p:nvPr/>
        </p:nvSpPr>
        <p:spPr>
          <a:xfrm>
            <a:off x="5300662" y="2738437"/>
            <a:ext cx="11508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7"/>
          <p:cNvSpPr/>
          <p:nvPr/>
        </p:nvSpPr>
        <p:spPr>
          <a:xfrm>
            <a:off x="6451550" y="2738437"/>
            <a:ext cx="99387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7"/>
          <p:cNvSpPr/>
          <p:nvPr/>
        </p:nvSpPr>
        <p:spPr>
          <a:xfrm>
            <a:off x="7445424" y="2738437"/>
            <a:ext cx="159037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7"/>
          <p:cNvSpPr/>
          <p:nvPr/>
        </p:nvSpPr>
        <p:spPr>
          <a:xfrm>
            <a:off x="9035801" y="2738437"/>
            <a:ext cx="123452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7"/>
          <p:cNvSpPr/>
          <p:nvPr/>
        </p:nvSpPr>
        <p:spPr>
          <a:xfrm>
            <a:off x="10270331" y="2738437"/>
            <a:ext cx="135016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7"/>
          <p:cNvSpPr/>
          <p:nvPr/>
        </p:nvSpPr>
        <p:spPr>
          <a:xfrm>
            <a:off x="571500" y="3138487"/>
            <a:ext cx="5439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7"/>
          <p:cNvSpPr/>
          <p:nvPr/>
        </p:nvSpPr>
        <p:spPr>
          <a:xfrm>
            <a:off x="1115466" y="3138487"/>
            <a:ext cx="41851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7"/>
          <p:cNvSpPr/>
          <p:nvPr/>
        </p:nvSpPr>
        <p:spPr>
          <a:xfrm>
            <a:off x="5300662" y="3138487"/>
            <a:ext cx="11508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7"/>
          <p:cNvSpPr/>
          <p:nvPr/>
        </p:nvSpPr>
        <p:spPr>
          <a:xfrm>
            <a:off x="6451550" y="3138487"/>
            <a:ext cx="99387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7"/>
          <p:cNvSpPr/>
          <p:nvPr/>
        </p:nvSpPr>
        <p:spPr>
          <a:xfrm>
            <a:off x="7445424" y="3138487"/>
            <a:ext cx="159037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7"/>
          <p:cNvSpPr/>
          <p:nvPr/>
        </p:nvSpPr>
        <p:spPr>
          <a:xfrm>
            <a:off x="9035801" y="3138487"/>
            <a:ext cx="123452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7"/>
          <p:cNvSpPr/>
          <p:nvPr/>
        </p:nvSpPr>
        <p:spPr>
          <a:xfrm>
            <a:off x="10270331" y="3138487"/>
            <a:ext cx="135016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7"/>
          <p:cNvSpPr/>
          <p:nvPr/>
        </p:nvSpPr>
        <p:spPr>
          <a:xfrm>
            <a:off x="571500" y="3538537"/>
            <a:ext cx="5439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7"/>
          <p:cNvSpPr/>
          <p:nvPr/>
        </p:nvSpPr>
        <p:spPr>
          <a:xfrm>
            <a:off x="1115466" y="3538537"/>
            <a:ext cx="41851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7"/>
          <p:cNvSpPr/>
          <p:nvPr/>
        </p:nvSpPr>
        <p:spPr>
          <a:xfrm>
            <a:off x="5300662" y="3538537"/>
            <a:ext cx="11508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7"/>
          <p:cNvSpPr/>
          <p:nvPr/>
        </p:nvSpPr>
        <p:spPr>
          <a:xfrm>
            <a:off x="6451550" y="3538537"/>
            <a:ext cx="99387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7"/>
          <p:cNvSpPr/>
          <p:nvPr/>
        </p:nvSpPr>
        <p:spPr>
          <a:xfrm>
            <a:off x="7445424" y="3538537"/>
            <a:ext cx="159037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7"/>
          <p:cNvSpPr/>
          <p:nvPr/>
        </p:nvSpPr>
        <p:spPr>
          <a:xfrm>
            <a:off x="9035801" y="3538537"/>
            <a:ext cx="123452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7"/>
          <p:cNvSpPr/>
          <p:nvPr/>
        </p:nvSpPr>
        <p:spPr>
          <a:xfrm>
            <a:off x="10270331" y="3538537"/>
            <a:ext cx="135016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7"/>
          <p:cNvSpPr/>
          <p:nvPr/>
        </p:nvSpPr>
        <p:spPr>
          <a:xfrm>
            <a:off x="571500" y="3938587"/>
            <a:ext cx="5439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7"/>
          <p:cNvSpPr/>
          <p:nvPr/>
        </p:nvSpPr>
        <p:spPr>
          <a:xfrm>
            <a:off x="1115466" y="3938587"/>
            <a:ext cx="41851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7"/>
          <p:cNvSpPr/>
          <p:nvPr/>
        </p:nvSpPr>
        <p:spPr>
          <a:xfrm>
            <a:off x="5300662" y="3938587"/>
            <a:ext cx="11508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7"/>
          <p:cNvSpPr/>
          <p:nvPr/>
        </p:nvSpPr>
        <p:spPr>
          <a:xfrm>
            <a:off x="6451550" y="3938587"/>
            <a:ext cx="99387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7"/>
          <p:cNvSpPr/>
          <p:nvPr/>
        </p:nvSpPr>
        <p:spPr>
          <a:xfrm>
            <a:off x="7445424" y="3938587"/>
            <a:ext cx="159037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7"/>
          <p:cNvSpPr/>
          <p:nvPr/>
        </p:nvSpPr>
        <p:spPr>
          <a:xfrm>
            <a:off x="9035801" y="3938587"/>
            <a:ext cx="123452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7"/>
          <p:cNvSpPr/>
          <p:nvPr/>
        </p:nvSpPr>
        <p:spPr>
          <a:xfrm>
            <a:off x="10270331" y="3938587"/>
            <a:ext cx="135016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7"/>
          <p:cNvSpPr/>
          <p:nvPr/>
        </p:nvSpPr>
        <p:spPr>
          <a:xfrm>
            <a:off x="571500" y="4338637"/>
            <a:ext cx="5439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7"/>
          <p:cNvSpPr/>
          <p:nvPr/>
        </p:nvSpPr>
        <p:spPr>
          <a:xfrm>
            <a:off x="1115466" y="4338637"/>
            <a:ext cx="41851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7"/>
          <p:cNvSpPr/>
          <p:nvPr/>
        </p:nvSpPr>
        <p:spPr>
          <a:xfrm>
            <a:off x="5300662" y="4338637"/>
            <a:ext cx="11508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7"/>
          <p:cNvSpPr/>
          <p:nvPr/>
        </p:nvSpPr>
        <p:spPr>
          <a:xfrm>
            <a:off x="6451550" y="4338637"/>
            <a:ext cx="99387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7"/>
          <p:cNvSpPr/>
          <p:nvPr/>
        </p:nvSpPr>
        <p:spPr>
          <a:xfrm>
            <a:off x="7445424" y="4338637"/>
            <a:ext cx="159037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7"/>
          <p:cNvSpPr/>
          <p:nvPr/>
        </p:nvSpPr>
        <p:spPr>
          <a:xfrm>
            <a:off x="9035801" y="4338637"/>
            <a:ext cx="123452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7"/>
          <p:cNvSpPr/>
          <p:nvPr/>
        </p:nvSpPr>
        <p:spPr>
          <a:xfrm>
            <a:off x="10270331" y="4338637"/>
            <a:ext cx="135016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7"/>
          <p:cNvSpPr/>
          <p:nvPr/>
        </p:nvSpPr>
        <p:spPr>
          <a:xfrm>
            <a:off x="571500" y="4738687"/>
            <a:ext cx="5439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7"/>
          <p:cNvSpPr/>
          <p:nvPr/>
        </p:nvSpPr>
        <p:spPr>
          <a:xfrm>
            <a:off x="1115466" y="4738687"/>
            <a:ext cx="41851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7"/>
          <p:cNvSpPr/>
          <p:nvPr/>
        </p:nvSpPr>
        <p:spPr>
          <a:xfrm>
            <a:off x="5300662" y="4738687"/>
            <a:ext cx="11508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7"/>
          <p:cNvSpPr/>
          <p:nvPr/>
        </p:nvSpPr>
        <p:spPr>
          <a:xfrm>
            <a:off x="6451550" y="4738687"/>
            <a:ext cx="99387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7"/>
          <p:cNvSpPr/>
          <p:nvPr/>
        </p:nvSpPr>
        <p:spPr>
          <a:xfrm>
            <a:off x="7445424" y="4738687"/>
            <a:ext cx="159037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7"/>
          <p:cNvSpPr/>
          <p:nvPr/>
        </p:nvSpPr>
        <p:spPr>
          <a:xfrm>
            <a:off x="9035801" y="4738687"/>
            <a:ext cx="123452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7"/>
          <p:cNvSpPr/>
          <p:nvPr/>
        </p:nvSpPr>
        <p:spPr>
          <a:xfrm>
            <a:off x="10270331" y="4738687"/>
            <a:ext cx="135016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7"/>
          <p:cNvSpPr txBox="1"/>
          <p:nvPr/>
        </p:nvSpPr>
        <p:spPr>
          <a:xfrm>
            <a:off x="714375" y="476250"/>
            <a:ext cx="11451431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Performa Campaign: Top 5 Engagement Rate</a:t>
            </a:r>
            <a:endParaRPr/>
          </a:p>
        </p:txBody>
      </p:sp>
      <p:sp>
        <p:nvSpPr>
          <p:cNvPr id="234" name="Google Shape;234;p17"/>
          <p:cNvSpPr/>
          <p:nvPr/>
        </p:nvSpPr>
        <p:spPr>
          <a:xfrm>
            <a:off x="571500" y="476250"/>
            <a:ext cx="47625" cy="42862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5" name="Google Shape;235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7013" y="1802626"/>
            <a:ext cx="10618178" cy="294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0" name="Google Shape;24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324600"/>
            <a:ext cx="121920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18"/>
          <p:cNvSpPr txBox="1"/>
          <p:nvPr/>
        </p:nvSpPr>
        <p:spPr>
          <a:xfrm>
            <a:off x="571500" y="4895850"/>
            <a:ext cx="11049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Insight:</a:t>
            </a:r>
            <a:r>
              <a:rPr b="0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Angka </a:t>
            </a:r>
            <a:r>
              <a:rPr i="1" lang="en-US" sz="11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bounce rate</a:t>
            </a:r>
            <a:r>
              <a:rPr lang="en-US" sz="11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tertinggi ditemukan pada trafik </a:t>
            </a:r>
            <a:r>
              <a:rPr b="1" lang="en-US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(organic)</a:t>
            </a:r>
            <a:r>
              <a:rPr lang="en-US" sz="11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dan campaign </a:t>
            </a:r>
            <a:r>
              <a:rPr b="1" lang="en-US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Nov2024_HolidayGift_V1</a:t>
            </a:r>
            <a:r>
              <a:rPr lang="en-US" sz="11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 Mengindikasikan adanya ketidaksesuaian (</a:t>
            </a:r>
            <a:r>
              <a:rPr i="1" lang="en-US" sz="11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mismatch</a:t>
            </a:r>
            <a:r>
              <a:rPr lang="en-US" sz="11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) antara ekspektasi audiens saat mengklik iklan dengan pesan/tampilan di </a:t>
            </a:r>
            <a:r>
              <a:rPr i="1" lang="en-US" sz="11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landing page</a:t>
            </a:r>
            <a:r>
              <a:rPr lang="en-US" sz="11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atau kualitas trafik organik yang kurang tersaring.</a:t>
            </a:r>
            <a:endParaRPr sz="105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3" name="Google Shape;243;p18"/>
          <p:cNvSpPr txBox="1"/>
          <p:nvPr/>
        </p:nvSpPr>
        <p:spPr>
          <a:xfrm>
            <a:off x="12401550" y="6477000"/>
            <a:ext cx="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Slide 5</a:t>
            </a:r>
            <a:endParaRPr/>
          </a:p>
        </p:txBody>
      </p:sp>
      <p:sp>
        <p:nvSpPr>
          <p:cNvPr id="244" name="Google Shape;244;p18"/>
          <p:cNvSpPr/>
          <p:nvPr/>
        </p:nvSpPr>
        <p:spPr>
          <a:xfrm>
            <a:off x="571500" y="2738437"/>
            <a:ext cx="5439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8"/>
          <p:cNvSpPr/>
          <p:nvPr/>
        </p:nvSpPr>
        <p:spPr>
          <a:xfrm>
            <a:off x="1115466" y="2738437"/>
            <a:ext cx="4185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8"/>
          <p:cNvSpPr/>
          <p:nvPr/>
        </p:nvSpPr>
        <p:spPr>
          <a:xfrm>
            <a:off x="5300662" y="2738437"/>
            <a:ext cx="11508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8"/>
          <p:cNvSpPr/>
          <p:nvPr/>
        </p:nvSpPr>
        <p:spPr>
          <a:xfrm>
            <a:off x="6451550" y="2738437"/>
            <a:ext cx="9939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8"/>
          <p:cNvSpPr/>
          <p:nvPr/>
        </p:nvSpPr>
        <p:spPr>
          <a:xfrm>
            <a:off x="7445424" y="2738437"/>
            <a:ext cx="1590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8"/>
          <p:cNvSpPr/>
          <p:nvPr/>
        </p:nvSpPr>
        <p:spPr>
          <a:xfrm>
            <a:off x="9035801" y="2738437"/>
            <a:ext cx="1234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8"/>
          <p:cNvSpPr/>
          <p:nvPr/>
        </p:nvSpPr>
        <p:spPr>
          <a:xfrm>
            <a:off x="10270331" y="2738437"/>
            <a:ext cx="1350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8"/>
          <p:cNvSpPr/>
          <p:nvPr/>
        </p:nvSpPr>
        <p:spPr>
          <a:xfrm>
            <a:off x="571500" y="3138487"/>
            <a:ext cx="5439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8"/>
          <p:cNvSpPr/>
          <p:nvPr/>
        </p:nvSpPr>
        <p:spPr>
          <a:xfrm>
            <a:off x="1115466" y="3138487"/>
            <a:ext cx="4185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8"/>
          <p:cNvSpPr/>
          <p:nvPr/>
        </p:nvSpPr>
        <p:spPr>
          <a:xfrm>
            <a:off x="5300662" y="3138487"/>
            <a:ext cx="11508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8"/>
          <p:cNvSpPr/>
          <p:nvPr/>
        </p:nvSpPr>
        <p:spPr>
          <a:xfrm>
            <a:off x="6451550" y="3138487"/>
            <a:ext cx="9939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8"/>
          <p:cNvSpPr/>
          <p:nvPr/>
        </p:nvSpPr>
        <p:spPr>
          <a:xfrm>
            <a:off x="7445424" y="3138487"/>
            <a:ext cx="1590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8"/>
          <p:cNvSpPr/>
          <p:nvPr/>
        </p:nvSpPr>
        <p:spPr>
          <a:xfrm>
            <a:off x="9035801" y="3138487"/>
            <a:ext cx="1234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8"/>
          <p:cNvSpPr/>
          <p:nvPr/>
        </p:nvSpPr>
        <p:spPr>
          <a:xfrm>
            <a:off x="10270331" y="3138487"/>
            <a:ext cx="1350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8"/>
          <p:cNvSpPr/>
          <p:nvPr/>
        </p:nvSpPr>
        <p:spPr>
          <a:xfrm>
            <a:off x="571500" y="3538537"/>
            <a:ext cx="5439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8"/>
          <p:cNvSpPr/>
          <p:nvPr/>
        </p:nvSpPr>
        <p:spPr>
          <a:xfrm>
            <a:off x="1115466" y="3538537"/>
            <a:ext cx="4185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8"/>
          <p:cNvSpPr/>
          <p:nvPr/>
        </p:nvSpPr>
        <p:spPr>
          <a:xfrm>
            <a:off x="5300662" y="3538537"/>
            <a:ext cx="11508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8"/>
          <p:cNvSpPr/>
          <p:nvPr/>
        </p:nvSpPr>
        <p:spPr>
          <a:xfrm>
            <a:off x="6451550" y="3538537"/>
            <a:ext cx="9939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8"/>
          <p:cNvSpPr/>
          <p:nvPr/>
        </p:nvSpPr>
        <p:spPr>
          <a:xfrm>
            <a:off x="7445424" y="3538537"/>
            <a:ext cx="1590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8"/>
          <p:cNvSpPr/>
          <p:nvPr/>
        </p:nvSpPr>
        <p:spPr>
          <a:xfrm>
            <a:off x="9035801" y="3538537"/>
            <a:ext cx="1234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8"/>
          <p:cNvSpPr/>
          <p:nvPr/>
        </p:nvSpPr>
        <p:spPr>
          <a:xfrm>
            <a:off x="10270331" y="3538537"/>
            <a:ext cx="1350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8"/>
          <p:cNvSpPr/>
          <p:nvPr/>
        </p:nvSpPr>
        <p:spPr>
          <a:xfrm>
            <a:off x="571500" y="3938587"/>
            <a:ext cx="5439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8"/>
          <p:cNvSpPr/>
          <p:nvPr/>
        </p:nvSpPr>
        <p:spPr>
          <a:xfrm>
            <a:off x="1115466" y="3938587"/>
            <a:ext cx="4185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8"/>
          <p:cNvSpPr/>
          <p:nvPr/>
        </p:nvSpPr>
        <p:spPr>
          <a:xfrm>
            <a:off x="5300662" y="3938587"/>
            <a:ext cx="11508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8"/>
          <p:cNvSpPr/>
          <p:nvPr/>
        </p:nvSpPr>
        <p:spPr>
          <a:xfrm>
            <a:off x="6451550" y="3938587"/>
            <a:ext cx="9939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8"/>
          <p:cNvSpPr/>
          <p:nvPr/>
        </p:nvSpPr>
        <p:spPr>
          <a:xfrm>
            <a:off x="7445424" y="3938587"/>
            <a:ext cx="1590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8"/>
          <p:cNvSpPr/>
          <p:nvPr/>
        </p:nvSpPr>
        <p:spPr>
          <a:xfrm>
            <a:off x="9035801" y="3938587"/>
            <a:ext cx="1234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8"/>
          <p:cNvSpPr/>
          <p:nvPr/>
        </p:nvSpPr>
        <p:spPr>
          <a:xfrm>
            <a:off x="10270331" y="3938587"/>
            <a:ext cx="1350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8"/>
          <p:cNvSpPr/>
          <p:nvPr/>
        </p:nvSpPr>
        <p:spPr>
          <a:xfrm>
            <a:off x="571500" y="4338637"/>
            <a:ext cx="5439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8"/>
          <p:cNvSpPr/>
          <p:nvPr/>
        </p:nvSpPr>
        <p:spPr>
          <a:xfrm>
            <a:off x="1115466" y="4338637"/>
            <a:ext cx="4185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8"/>
          <p:cNvSpPr/>
          <p:nvPr/>
        </p:nvSpPr>
        <p:spPr>
          <a:xfrm>
            <a:off x="5300662" y="4338637"/>
            <a:ext cx="11508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8"/>
          <p:cNvSpPr/>
          <p:nvPr/>
        </p:nvSpPr>
        <p:spPr>
          <a:xfrm>
            <a:off x="6451550" y="4338637"/>
            <a:ext cx="9939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8"/>
          <p:cNvSpPr/>
          <p:nvPr/>
        </p:nvSpPr>
        <p:spPr>
          <a:xfrm>
            <a:off x="7445424" y="4338637"/>
            <a:ext cx="1590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8"/>
          <p:cNvSpPr/>
          <p:nvPr/>
        </p:nvSpPr>
        <p:spPr>
          <a:xfrm>
            <a:off x="9035801" y="4338637"/>
            <a:ext cx="1234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8"/>
          <p:cNvSpPr/>
          <p:nvPr/>
        </p:nvSpPr>
        <p:spPr>
          <a:xfrm>
            <a:off x="10270331" y="4338637"/>
            <a:ext cx="1350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8"/>
          <p:cNvSpPr/>
          <p:nvPr/>
        </p:nvSpPr>
        <p:spPr>
          <a:xfrm>
            <a:off x="571500" y="4738687"/>
            <a:ext cx="5439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8"/>
          <p:cNvSpPr/>
          <p:nvPr/>
        </p:nvSpPr>
        <p:spPr>
          <a:xfrm>
            <a:off x="1115466" y="4738687"/>
            <a:ext cx="4185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8"/>
          <p:cNvSpPr/>
          <p:nvPr/>
        </p:nvSpPr>
        <p:spPr>
          <a:xfrm>
            <a:off x="5300662" y="4738687"/>
            <a:ext cx="11508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8"/>
          <p:cNvSpPr/>
          <p:nvPr/>
        </p:nvSpPr>
        <p:spPr>
          <a:xfrm>
            <a:off x="6451550" y="4738687"/>
            <a:ext cx="9939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8"/>
          <p:cNvSpPr/>
          <p:nvPr/>
        </p:nvSpPr>
        <p:spPr>
          <a:xfrm>
            <a:off x="7445424" y="4738687"/>
            <a:ext cx="1590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8"/>
          <p:cNvSpPr/>
          <p:nvPr/>
        </p:nvSpPr>
        <p:spPr>
          <a:xfrm>
            <a:off x="9035801" y="4738687"/>
            <a:ext cx="1234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8"/>
          <p:cNvSpPr/>
          <p:nvPr/>
        </p:nvSpPr>
        <p:spPr>
          <a:xfrm>
            <a:off x="10270331" y="4738687"/>
            <a:ext cx="1350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8"/>
          <p:cNvSpPr txBox="1"/>
          <p:nvPr/>
        </p:nvSpPr>
        <p:spPr>
          <a:xfrm>
            <a:off x="714375" y="476250"/>
            <a:ext cx="11451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Performa Campaign: Top 5 </a:t>
            </a:r>
            <a:r>
              <a:rPr b="1" lang="en-US" sz="27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Bounce Rate</a:t>
            </a:r>
            <a:endParaRPr/>
          </a:p>
        </p:txBody>
      </p:sp>
      <p:sp>
        <p:nvSpPr>
          <p:cNvPr id="287" name="Google Shape;287;p18"/>
          <p:cNvSpPr/>
          <p:nvPr/>
        </p:nvSpPr>
        <p:spPr>
          <a:xfrm>
            <a:off x="571500" y="476250"/>
            <a:ext cx="47700" cy="4287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8" name="Google Shape;288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9200" y="1738625"/>
            <a:ext cx="10911075" cy="299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3" name="Google Shape;29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20053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4" name="Google Shape;29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324600"/>
            <a:ext cx="121920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19"/>
          <p:cNvSpPr txBox="1"/>
          <p:nvPr/>
        </p:nvSpPr>
        <p:spPr>
          <a:xfrm>
            <a:off x="571500" y="4895850"/>
            <a:ext cx="11049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Insight:</a:t>
            </a:r>
            <a:r>
              <a:rPr b="0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Didominasi oleh trafik </a:t>
            </a:r>
            <a:r>
              <a:rPr b="1" lang="en-US" sz="11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(organic)</a:t>
            </a:r>
            <a:r>
              <a:rPr lang="en-US" sz="11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dan </a:t>
            </a:r>
            <a:r>
              <a:rPr b="1" lang="en-US" sz="11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(referral)</a:t>
            </a:r>
            <a:r>
              <a:rPr lang="en-US" sz="11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serta kampanye spesifik seperti </a:t>
            </a:r>
            <a:r>
              <a:rPr b="1" lang="en-US" sz="11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Oct2025_Fall_V1</a:t>
            </a:r>
            <a:r>
              <a:rPr lang="en-US" sz="11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dan </a:t>
            </a:r>
            <a:r>
              <a:rPr b="1" lang="en-US" sz="11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[Evergreen] Merch Store US and CA | Search</a:t>
            </a:r>
            <a:r>
              <a:rPr lang="en-US" sz="11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 Tingginya total revenue pada channel-channel ini mengindikasikan </a:t>
            </a:r>
            <a:r>
              <a:rPr i="1" lang="en-US" sz="11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purchase intent</a:t>
            </a:r>
            <a:r>
              <a:rPr lang="en-US" sz="11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(niat membeli) yang sangat kuat dari audiens. Trafik organik dan pencarian berbayar (</a:t>
            </a:r>
            <a:r>
              <a:rPr i="1" lang="en-US" sz="11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search</a:t>
            </a:r>
            <a:r>
              <a:rPr lang="en-US" sz="11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) berhasil menjangkau pengguna yang aktif mencari produk, sementara kampanye musiman/spesifik efektif mendorong konversi transaksi bernilai tinggi.</a:t>
            </a:r>
            <a:endParaRPr sz="105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6" name="Google Shape;296;p19"/>
          <p:cNvSpPr txBox="1"/>
          <p:nvPr/>
        </p:nvSpPr>
        <p:spPr>
          <a:xfrm>
            <a:off x="12401550" y="6477000"/>
            <a:ext cx="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Slide 5</a:t>
            </a:r>
            <a:endParaRPr/>
          </a:p>
        </p:txBody>
      </p:sp>
      <p:sp>
        <p:nvSpPr>
          <p:cNvPr id="297" name="Google Shape;297;p19"/>
          <p:cNvSpPr/>
          <p:nvPr/>
        </p:nvSpPr>
        <p:spPr>
          <a:xfrm>
            <a:off x="571500" y="2738437"/>
            <a:ext cx="5439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9"/>
          <p:cNvSpPr/>
          <p:nvPr/>
        </p:nvSpPr>
        <p:spPr>
          <a:xfrm>
            <a:off x="1115466" y="2738437"/>
            <a:ext cx="4185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9"/>
          <p:cNvSpPr/>
          <p:nvPr/>
        </p:nvSpPr>
        <p:spPr>
          <a:xfrm>
            <a:off x="5300662" y="2738437"/>
            <a:ext cx="11508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9"/>
          <p:cNvSpPr/>
          <p:nvPr/>
        </p:nvSpPr>
        <p:spPr>
          <a:xfrm>
            <a:off x="6451550" y="2738437"/>
            <a:ext cx="9939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9"/>
          <p:cNvSpPr/>
          <p:nvPr/>
        </p:nvSpPr>
        <p:spPr>
          <a:xfrm>
            <a:off x="7445424" y="2738437"/>
            <a:ext cx="1590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9"/>
          <p:cNvSpPr/>
          <p:nvPr/>
        </p:nvSpPr>
        <p:spPr>
          <a:xfrm>
            <a:off x="9035801" y="2738437"/>
            <a:ext cx="1234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9"/>
          <p:cNvSpPr/>
          <p:nvPr/>
        </p:nvSpPr>
        <p:spPr>
          <a:xfrm>
            <a:off x="10270331" y="2738437"/>
            <a:ext cx="1350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9"/>
          <p:cNvSpPr/>
          <p:nvPr/>
        </p:nvSpPr>
        <p:spPr>
          <a:xfrm>
            <a:off x="571500" y="3138487"/>
            <a:ext cx="5439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9"/>
          <p:cNvSpPr/>
          <p:nvPr/>
        </p:nvSpPr>
        <p:spPr>
          <a:xfrm>
            <a:off x="1115466" y="3138487"/>
            <a:ext cx="4185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9"/>
          <p:cNvSpPr/>
          <p:nvPr/>
        </p:nvSpPr>
        <p:spPr>
          <a:xfrm>
            <a:off x="5300662" y="3138487"/>
            <a:ext cx="11508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9"/>
          <p:cNvSpPr/>
          <p:nvPr/>
        </p:nvSpPr>
        <p:spPr>
          <a:xfrm>
            <a:off x="6451550" y="3138487"/>
            <a:ext cx="9939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9"/>
          <p:cNvSpPr/>
          <p:nvPr/>
        </p:nvSpPr>
        <p:spPr>
          <a:xfrm>
            <a:off x="7445424" y="3138487"/>
            <a:ext cx="1590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9"/>
          <p:cNvSpPr/>
          <p:nvPr/>
        </p:nvSpPr>
        <p:spPr>
          <a:xfrm>
            <a:off x="9035801" y="3138487"/>
            <a:ext cx="1234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9"/>
          <p:cNvSpPr/>
          <p:nvPr/>
        </p:nvSpPr>
        <p:spPr>
          <a:xfrm>
            <a:off x="10270331" y="3138487"/>
            <a:ext cx="1350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9"/>
          <p:cNvSpPr/>
          <p:nvPr/>
        </p:nvSpPr>
        <p:spPr>
          <a:xfrm>
            <a:off x="571500" y="3538537"/>
            <a:ext cx="5439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9"/>
          <p:cNvSpPr/>
          <p:nvPr/>
        </p:nvSpPr>
        <p:spPr>
          <a:xfrm>
            <a:off x="1115466" y="3538537"/>
            <a:ext cx="4185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9"/>
          <p:cNvSpPr/>
          <p:nvPr/>
        </p:nvSpPr>
        <p:spPr>
          <a:xfrm>
            <a:off x="5300662" y="3538537"/>
            <a:ext cx="11508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9"/>
          <p:cNvSpPr/>
          <p:nvPr/>
        </p:nvSpPr>
        <p:spPr>
          <a:xfrm>
            <a:off x="6451550" y="3538537"/>
            <a:ext cx="9939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9"/>
          <p:cNvSpPr/>
          <p:nvPr/>
        </p:nvSpPr>
        <p:spPr>
          <a:xfrm>
            <a:off x="7445424" y="3538537"/>
            <a:ext cx="1590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9"/>
          <p:cNvSpPr/>
          <p:nvPr/>
        </p:nvSpPr>
        <p:spPr>
          <a:xfrm>
            <a:off x="9035801" y="3538537"/>
            <a:ext cx="1234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9"/>
          <p:cNvSpPr/>
          <p:nvPr/>
        </p:nvSpPr>
        <p:spPr>
          <a:xfrm>
            <a:off x="10270331" y="3538537"/>
            <a:ext cx="1350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9"/>
          <p:cNvSpPr/>
          <p:nvPr/>
        </p:nvSpPr>
        <p:spPr>
          <a:xfrm>
            <a:off x="571500" y="3938587"/>
            <a:ext cx="5439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9"/>
          <p:cNvSpPr/>
          <p:nvPr/>
        </p:nvSpPr>
        <p:spPr>
          <a:xfrm>
            <a:off x="1115466" y="3938587"/>
            <a:ext cx="4185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9"/>
          <p:cNvSpPr/>
          <p:nvPr/>
        </p:nvSpPr>
        <p:spPr>
          <a:xfrm>
            <a:off x="5300662" y="3938587"/>
            <a:ext cx="11508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9"/>
          <p:cNvSpPr/>
          <p:nvPr/>
        </p:nvSpPr>
        <p:spPr>
          <a:xfrm>
            <a:off x="6451550" y="3938587"/>
            <a:ext cx="9939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9"/>
          <p:cNvSpPr/>
          <p:nvPr/>
        </p:nvSpPr>
        <p:spPr>
          <a:xfrm>
            <a:off x="7445424" y="3938587"/>
            <a:ext cx="1590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9"/>
          <p:cNvSpPr/>
          <p:nvPr/>
        </p:nvSpPr>
        <p:spPr>
          <a:xfrm>
            <a:off x="9035801" y="3938587"/>
            <a:ext cx="1234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9"/>
          <p:cNvSpPr/>
          <p:nvPr/>
        </p:nvSpPr>
        <p:spPr>
          <a:xfrm>
            <a:off x="10270331" y="3938587"/>
            <a:ext cx="1350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9"/>
          <p:cNvSpPr/>
          <p:nvPr/>
        </p:nvSpPr>
        <p:spPr>
          <a:xfrm>
            <a:off x="571500" y="4338637"/>
            <a:ext cx="5439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9"/>
          <p:cNvSpPr/>
          <p:nvPr/>
        </p:nvSpPr>
        <p:spPr>
          <a:xfrm>
            <a:off x="1115466" y="4338637"/>
            <a:ext cx="4185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9"/>
          <p:cNvSpPr/>
          <p:nvPr/>
        </p:nvSpPr>
        <p:spPr>
          <a:xfrm>
            <a:off x="5300662" y="4338637"/>
            <a:ext cx="11508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9"/>
          <p:cNvSpPr/>
          <p:nvPr/>
        </p:nvSpPr>
        <p:spPr>
          <a:xfrm>
            <a:off x="6451550" y="4338637"/>
            <a:ext cx="9939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9"/>
          <p:cNvSpPr/>
          <p:nvPr/>
        </p:nvSpPr>
        <p:spPr>
          <a:xfrm>
            <a:off x="7445424" y="4338637"/>
            <a:ext cx="1590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9"/>
          <p:cNvSpPr/>
          <p:nvPr/>
        </p:nvSpPr>
        <p:spPr>
          <a:xfrm>
            <a:off x="9035801" y="4338637"/>
            <a:ext cx="1234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9"/>
          <p:cNvSpPr/>
          <p:nvPr/>
        </p:nvSpPr>
        <p:spPr>
          <a:xfrm>
            <a:off x="10270331" y="4338637"/>
            <a:ext cx="1350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9"/>
          <p:cNvSpPr/>
          <p:nvPr/>
        </p:nvSpPr>
        <p:spPr>
          <a:xfrm>
            <a:off x="571500" y="4738687"/>
            <a:ext cx="5439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9"/>
          <p:cNvSpPr/>
          <p:nvPr/>
        </p:nvSpPr>
        <p:spPr>
          <a:xfrm>
            <a:off x="1115466" y="4738687"/>
            <a:ext cx="4185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9"/>
          <p:cNvSpPr/>
          <p:nvPr/>
        </p:nvSpPr>
        <p:spPr>
          <a:xfrm>
            <a:off x="5300662" y="4738687"/>
            <a:ext cx="11508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9"/>
          <p:cNvSpPr/>
          <p:nvPr/>
        </p:nvSpPr>
        <p:spPr>
          <a:xfrm>
            <a:off x="6451550" y="4738687"/>
            <a:ext cx="9939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9"/>
          <p:cNvSpPr/>
          <p:nvPr/>
        </p:nvSpPr>
        <p:spPr>
          <a:xfrm>
            <a:off x="7445424" y="4738687"/>
            <a:ext cx="1590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9"/>
          <p:cNvSpPr/>
          <p:nvPr/>
        </p:nvSpPr>
        <p:spPr>
          <a:xfrm>
            <a:off x="9035801" y="4738687"/>
            <a:ext cx="1234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9"/>
          <p:cNvSpPr/>
          <p:nvPr/>
        </p:nvSpPr>
        <p:spPr>
          <a:xfrm>
            <a:off x="10270331" y="4738687"/>
            <a:ext cx="1350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9"/>
          <p:cNvSpPr txBox="1"/>
          <p:nvPr/>
        </p:nvSpPr>
        <p:spPr>
          <a:xfrm>
            <a:off x="714375" y="476250"/>
            <a:ext cx="11451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Performa Campaign: Top 5 </a:t>
            </a:r>
            <a:r>
              <a:rPr b="1" lang="en-US" sz="27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Conversion</a:t>
            </a: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Rate</a:t>
            </a:r>
            <a:endParaRPr/>
          </a:p>
        </p:txBody>
      </p:sp>
      <p:sp>
        <p:nvSpPr>
          <p:cNvPr id="340" name="Google Shape;340;p19"/>
          <p:cNvSpPr/>
          <p:nvPr/>
        </p:nvSpPr>
        <p:spPr>
          <a:xfrm>
            <a:off x="571500" y="476250"/>
            <a:ext cx="47700" cy="4287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1" name="Google Shape;34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1500" y="1770900"/>
            <a:ext cx="10708401" cy="297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6" name="Google Shape;34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7" name="Google Shape;34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43125"/>
            <a:ext cx="5334000" cy="3628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8" name="Google Shape;34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143125"/>
            <a:ext cx="5334000" cy="3628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9" name="Google Shape;349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6324600"/>
            <a:ext cx="121920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20"/>
          <p:cNvSpPr txBox="1"/>
          <p:nvPr/>
        </p:nvSpPr>
        <p:spPr>
          <a:xfrm>
            <a:off x="12401550" y="6477000"/>
            <a:ext cx="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Slide 6</a:t>
            </a:r>
            <a:endParaRPr/>
          </a:p>
        </p:txBody>
      </p:sp>
      <p:sp>
        <p:nvSpPr>
          <p:cNvPr id="351" name="Google Shape;351;p20"/>
          <p:cNvSpPr txBox="1"/>
          <p:nvPr/>
        </p:nvSpPr>
        <p:spPr>
          <a:xfrm>
            <a:off x="819150" y="2419350"/>
            <a:ext cx="5080635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Campaign #1: Search (Revenue Leader)</a:t>
            </a:r>
            <a:endParaRPr/>
          </a:p>
        </p:txBody>
      </p:sp>
      <p:sp>
        <p:nvSpPr>
          <p:cNvPr id="352" name="Google Shape;352;p20"/>
          <p:cNvSpPr txBox="1"/>
          <p:nvPr/>
        </p:nvSpPr>
        <p:spPr>
          <a:xfrm>
            <a:off x="819150" y="2800350"/>
            <a:ext cx="4838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[Evergreen] Merch Store US and CA | Search</a:t>
            </a:r>
            <a:endParaRPr/>
          </a:p>
        </p:txBody>
      </p:sp>
      <p:sp>
        <p:nvSpPr>
          <p:cNvPr id="353" name="Google Shape;353;p20"/>
          <p:cNvSpPr txBox="1"/>
          <p:nvPr/>
        </p:nvSpPr>
        <p:spPr>
          <a:xfrm>
            <a:off x="819150" y="4762500"/>
            <a:ext cx="48387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Justifikasi:</a:t>
            </a: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Penggerak utama pendapatan bisnis. Search intent pengguna sangat tinggi, menjadikannya benchmark prioritas alokasi budget.</a:t>
            </a:r>
            <a:endParaRPr/>
          </a:p>
        </p:txBody>
      </p:sp>
      <p:sp>
        <p:nvSpPr>
          <p:cNvPr id="354" name="Google Shape;354;p20"/>
          <p:cNvSpPr txBox="1"/>
          <p:nvPr/>
        </p:nvSpPr>
        <p:spPr>
          <a:xfrm>
            <a:off x="6534150" y="2419350"/>
            <a:ext cx="5080635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Campaign #2: Performance Max (High Efficiency)</a:t>
            </a:r>
            <a:endParaRPr/>
          </a:p>
        </p:txBody>
      </p:sp>
      <p:sp>
        <p:nvSpPr>
          <p:cNvPr id="355" name="Google Shape;355;p20"/>
          <p:cNvSpPr txBox="1"/>
          <p:nvPr/>
        </p:nvSpPr>
        <p:spPr>
          <a:xfrm>
            <a:off x="6534150" y="2800350"/>
            <a:ext cx="4838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[Evergreen] Merch Store US and CA | P. Max</a:t>
            </a:r>
            <a:endParaRPr/>
          </a:p>
        </p:txBody>
      </p:sp>
      <p:sp>
        <p:nvSpPr>
          <p:cNvPr id="356" name="Google Shape;356;p20"/>
          <p:cNvSpPr txBox="1"/>
          <p:nvPr/>
        </p:nvSpPr>
        <p:spPr>
          <a:xfrm>
            <a:off x="6534150" y="4762500"/>
            <a:ext cx="48387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Justifikasi:</a:t>
            </a: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75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Efisiensi Trafik &amp; Kualitas yang Tinggi dengan Rasio transaksi terhadap sesi yang menunjukkan penargetan audiens yang relevan</a:t>
            </a: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. Sangat efisien secara biaya; layak ditingkatkan skalanya.</a:t>
            </a:r>
            <a:endParaRPr/>
          </a:p>
        </p:txBody>
      </p:sp>
      <p:sp>
        <p:nvSpPr>
          <p:cNvPr id="357" name="Google Shape;357;p20"/>
          <p:cNvSpPr txBox="1"/>
          <p:nvPr/>
        </p:nvSpPr>
        <p:spPr>
          <a:xfrm>
            <a:off x="933450" y="3321843"/>
            <a:ext cx="762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58" name="Google Shape;358;p20"/>
          <p:cNvSpPr txBox="1"/>
          <p:nvPr/>
        </p:nvSpPr>
        <p:spPr>
          <a:xfrm>
            <a:off x="1009650" y="3324225"/>
            <a:ext cx="46482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Sessions: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1.5</a:t>
            </a:r>
            <a:r>
              <a:rPr lang="en-US" sz="112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42</a:t>
            </a: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(Volume Tinggi)</a:t>
            </a:r>
            <a:endParaRPr/>
          </a:p>
        </p:txBody>
      </p:sp>
      <p:sp>
        <p:nvSpPr>
          <p:cNvPr id="359" name="Google Shape;359;p20"/>
          <p:cNvSpPr txBox="1"/>
          <p:nvPr/>
        </p:nvSpPr>
        <p:spPr>
          <a:xfrm>
            <a:off x="933450" y="3631406"/>
            <a:ext cx="762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60" name="Google Shape;360;p20"/>
          <p:cNvSpPr txBox="1"/>
          <p:nvPr/>
        </p:nvSpPr>
        <p:spPr>
          <a:xfrm>
            <a:off x="1009650" y="3633787"/>
            <a:ext cx="46482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Engagement / Bounce: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99.1</a:t>
            </a: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% / 0.9%</a:t>
            </a:r>
            <a:endParaRPr/>
          </a:p>
        </p:txBody>
      </p:sp>
      <p:sp>
        <p:nvSpPr>
          <p:cNvPr id="361" name="Google Shape;361;p20"/>
          <p:cNvSpPr txBox="1"/>
          <p:nvPr/>
        </p:nvSpPr>
        <p:spPr>
          <a:xfrm>
            <a:off x="933450" y="3940968"/>
            <a:ext cx="762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62" name="Google Shape;362;p20"/>
          <p:cNvSpPr txBox="1"/>
          <p:nvPr/>
        </p:nvSpPr>
        <p:spPr>
          <a:xfrm>
            <a:off x="1009650" y="3943350"/>
            <a:ext cx="46482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Total Pembeli: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58</a:t>
            </a:r>
            <a:endParaRPr/>
          </a:p>
        </p:txBody>
      </p:sp>
      <p:sp>
        <p:nvSpPr>
          <p:cNvPr id="363" name="Google Shape;363;p20"/>
          <p:cNvSpPr txBox="1"/>
          <p:nvPr/>
        </p:nvSpPr>
        <p:spPr>
          <a:xfrm>
            <a:off x="933450" y="4250531"/>
            <a:ext cx="762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64" name="Google Shape;364;p20"/>
          <p:cNvSpPr txBox="1"/>
          <p:nvPr/>
        </p:nvSpPr>
        <p:spPr>
          <a:xfrm>
            <a:off x="1009650" y="4252912"/>
            <a:ext cx="46482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Total Revenue: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n-US" sz="112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$5.055,19 </a:t>
            </a: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(Terbesar)</a:t>
            </a:r>
            <a:endParaRPr/>
          </a:p>
        </p:txBody>
      </p:sp>
      <p:sp>
        <p:nvSpPr>
          <p:cNvPr id="365" name="Google Shape;365;p20"/>
          <p:cNvSpPr txBox="1"/>
          <p:nvPr/>
        </p:nvSpPr>
        <p:spPr>
          <a:xfrm>
            <a:off x="6648450" y="3321843"/>
            <a:ext cx="762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66" name="Google Shape;366;p20"/>
          <p:cNvSpPr txBox="1"/>
          <p:nvPr/>
        </p:nvSpPr>
        <p:spPr>
          <a:xfrm>
            <a:off x="6724650" y="3324225"/>
            <a:ext cx="46482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Sessions: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32</a:t>
            </a:r>
            <a:r>
              <a:rPr lang="en-US" sz="112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/>
          </a:p>
        </p:txBody>
      </p:sp>
      <p:sp>
        <p:nvSpPr>
          <p:cNvPr id="367" name="Google Shape;367;p20"/>
          <p:cNvSpPr txBox="1"/>
          <p:nvPr/>
        </p:nvSpPr>
        <p:spPr>
          <a:xfrm>
            <a:off x="6648450" y="3631406"/>
            <a:ext cx="762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68" name="Google Shape;368;p20"/>
          <p:cNvSpPr txBox="1"/>
          <p:nvPr/>
        </p:nvSpPr>
        <p:spPr>
          <a:xfrm>
            <a:off x="6724650" y="3633787"/>
            <a:ext cx="46482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Engagement / Bounce: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99.7</a:t>
            </a: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% / </a:t>
            </a:r>
            <a:r>
              <a:rPr lang="en-US" sz="112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0.3</a:t>
            </a: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% (Sangat Sehat)</a:t>
            </a:r>
            <a:endParaRPr/>
          </a:p>
        </p:txBody>
      </p:sp>
      <p:sp>
        <p:nvSpPr>
          <p:cNvPr id="369" name="Google Shape;369;p20"/>
          <p:cNvSpPr txBox="1"/>
          <p:nvPr/>
        </p:nvSpPr>
        <p:spPr>
          <a:xfrm>
            <a:off x="6648450" y="3940968"/>
            <a:ext cx="762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70" name="Google Shape;370;p20"/>
          <p:cNvSpPr txBox="1"/>
          <p:nvPr/>
        </p:nvSpPr>
        <p:spPr>
          <a:xfrm>
            <a:off x="6724650" y="3943350"/>
            <a:ext cx="46482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Total Pembeli: </a:t>
            </a:r>
            <a:r>
              <a:rPr lang="en-US" sz="112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1" name="Google Shape;371;p20"/>
          <p:cNvSpPr txBox="1"/>
          <p:nvPr/>
        </p:nvSpPr>
        <p:spPr>
          <a:xfrm>
            <a:off x="6648450" y="4250531"/>
            <a:ext cx="762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72" name="Google Shape;372;p20"/>
          <p:cNvSpPr txBox="1"/>
          <p:nvPr/>
        </p:nvSpPr>
        <p:spPr>
          <a:xfrm>
            <a:off x="6724650" y="4252912"/>
            <a:ext cx="46482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Total Revenue: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$1,37</a:t>
            </a:r>
            <a:r>
              <a:rPr lang="en-US" sz="112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3.82</a:t>
            </a:r>
            <a:endParaRPr/>
          </a:p>
        </p:txBody>
      </p:sp>
      <p:sp>
        <p:nvSpPr>
          <p:cNvPr id="373" name="Google Shape;373;p20"/>
          <p:cNvSpPr txBox="1"/>
          <p:nvPr/>
        </p:nvSpPr>
        <p:spPr>
          <a:xfrm>
            <a:off x="714375" y="476250"/>
            <a:ext cx="11451431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Analisis Mendalam: 2 Campaign Terbaik</a:t>
            </a:r>
            <a:endParaRPr/>
          </a:p>
        </p:txBody>
      </p:sp>
      <p:sp>
        <p:nvSpPr>
          <p:cNvPr id="374" name="Google Shape;374;p20"/>
          <p:cNvSpPr/>
          <p:nvPr/>
        </p:nvSpPr>
        <p:spPr>
          <a:xfrm>
            <a:off x="571500" y="476250"/>
            <a:ext cx="47625" cy="42862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79" name="Google Shape;37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0" name="Google Shape;38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64556"/>
            <a:ext cx="11049000" cy="31956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1" name="Google Shape;381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6324600"/>
            <a:ext cx="121920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21"/>
          <p:cNvSpPr txBox="1"/>
          <p:nvPr/>
        </p:nvSpPr>
        <p:spPr>
          <a:xfrm>
            <a:off x="12401550" y="6477000"/>
            <a:ext cx="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Slide 7</a:t>
            </a:r>
            <a:endParaRPr/>
          </a:p>
        </p:txBody>
      </p:sp>
      <p:sp>
        <p:nvSpPr>
          <p:cNvPr id="383" name="Google Shape;383;p21"/>
          <p:cNvSpPr txBox="1"/>
          <p:nvPr/>
        </p:nvSpPr>
        <p:spPr>
          <a:xfrm>
            <a:off x="857250" y="2412206"/>
            <a:ext cx="11041380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 Mengapa Custom Reporting Diperlukan?</a:t>
            </a:r>
            <a:endParaRPr/>
          </a:p>
        </p:txBody>
      </p:sp>
      <p:sp>
        <p:nvSpPr>
          <p:cNvPr id="384" name="Google Shape;384;p21"/>
          <p:cNvSpPr txBox="1"/>
          <p:nvPr/>
        </p:nvSpPr>
        <p:spPr>
          <a:xfrm>
            <a:off x="857250" y="2793206"/>
            <a:ext cx="105156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Laporan Standar:</a:t>
            </a: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Sifatnya umum (out-of-the-box), kaku, dan diagregasi tingkat tinggi sehingga sering menyembunyikan detail atau segmen audiens yang spesifik bagi kebutuhan unik bisnis.</a:t>
            </a:r>
            <a:endParaRPr/>
          </a:p>
        </p:txBody>
      </p:sp>
      <p:sp>
        <p:nvSpPr>
          <p:cNvPr id="385" name="Google Shape;385;p21"/>
          <p:cNvSpPr txBox="1"/>
          <p:nvPr/>
        </p:nvSpPr>
        <p:spPr>
          <a:xfrm>
            <a:off x="857250" y="3479006"/>
            <a:ext cx="105156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Custom Reporting:</a:t>
            </a: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Membebaskan analis untuk mengombinasikan dimensi dan metrik kustom sesuai hipotesis atau alur pengguna (user journey). Ini membantu menjawab kebutuhan bisnis secara spesifik dengan:</a:t>
            </a:r>
            <a:endParaRPr/>
          </a:p>
        </p:txBody>
      </p:sp>
      <p:sp>
        <p:nvSpPr>
          <p:cNvPr id="386" name="Google Shape;386;p21"/>
          <p:cNvSpPr txBox="1"/>
          <p:nvPr/>
        </p:nvSpPr>
        <p:spPr>
          <a:xfrm>
            <a:off x="971550" y="4124325"/>
            <a:ext cx="762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87" name="Google Shape;387;p21"/>
          <p:cNvSpPr txBox="1"/>
          <p:nvPr/>
        </p:nvSpPr>
        <p:spPr>
          <a:xfrm>
            <a:off x="1047750" y="4126706"/>
            <a:ext cx="1032510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Melacak KPI Khusus: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Mengukur variabel unik (ex: product-views-to-cart).</a:t>
            </a:r>
            <a:endParaRPr/>
          </a:p>
        </p:txBody>
      </p:sp>
      <p:sp>
        <p:nvSpPr>
          <p:cNvPr id="388" name="Google Shape;388;p21"/>
          <p:cNvSpPr txBox="1"/>
          <p:nvPr/>
        </p:nvSpPr>
        <p:spPr>
          <a:xfrm>
            <a:off x="971550" y="4433887"/>
            <a:ext cx="762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89" name="Google Shape;389;p21"/>
          <p:cNvSpPr txBox="1"/>
          <p:nvPr/>
        </p:nvSpPr>
        <p:spPr>
          <a:xfrm>
            <a:off x="1047750" y="4436268"/>
            <a:ext cx="1032510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Segmentasi Mendalam: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Membandingkan perilaku kelompok audiens secara fleksibel.</a:t>
            </a:r>
            <a:endParaRPr/>
          </a:p>
        </p:txBody>
      </p:sp>
      <p:sp>
        <p:nvSpPr>
          <p:cNvPr id="390" name="Google Shape;390;p21"/>
          <p:cNvSpPr txBox="1"/>
          <p:nvPr/>
        </p:nvSpPr>
        <p:spPr>
          <a:xfrm>
            <a:off x="971550" y="4743450"/>
            <a:ext cx="762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91" name="Google Shape;391;p21"/>
          <p:cNvSpPr txBox="1"/>
          <p:nvPr/>
        </p:nvSpPr>
        <p:spPr>
          <a:xfrm>
            <a:off x="1047750" y="4745831"/>
            <a:ext cx="1032510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Menemukan Friction Points: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Mengidentifikasi titik drop-off pada funnel konversi.</a:t>
            </a:r>
            <a:endParaRPr/>
          </a:p>
        </p:txBody>
      </p:sp>
      <p:sp>
        <p:nvSpPr>
          <p:cNvPr id="392" name="Google Shape;392;p21"/>
          <p:cNvSpPr txBox="1"/>
          <p:nvPr/>
        </p:nvSpPr>
        <p:spPr>
          <a:xfrm>
            <a:off x="714375" y="476250"/>
            <a:ext cx="11451431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Reflection Questions: Custom Reporting</a:t>
            </a:r>
            <a:endParaRPr/>
          </a:p>
        </p:txBody>
      </p:sp>
      <p:sp>
        <p:nvSpPr>
          <p:cNvPr id="393" name="Google Shape;393;p21"/>
          <p:cNvSpPr/>
          <p:nvPr/>
        </p:nvSpPr>
        <p:spPr>
          <a:xfrm>
            <a:off x="571500" y="476250"/>
            <a:ext cx="47625" cy="42862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98" name="Google Shape;39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9" name="Google Shape;39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66937"/>
            <a:ext cx="5334000" cy="3190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0" name="Google Shape;40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166937"/>
            <a:ext cx="5334000" cy="3190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1" name="Google Shape;401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6324600"/>
            <a:ext cx="121920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22"/>
          <p:cNvSpPr txBox="1"/>
          <p:nvPr/>
        </p:nvSpPr>
        <p:spPr>
          <a:xfrm>
            <a:off x="12401550" y="6477000"/>
            <a:ext cx="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Slide 8</a:t>
            </a:r>
            <a:endParaRPr/>
          </a:p>
        </p:txBody>
      </p:sp>
      <p:sp>
        <p:nvSpPr>
          <p:cNvPr id="403" name="Google Shape;403;p22"/>
          <p:cNvSpPr txBox="1"/>
          <p:nvPr/>
        </p:nvSpPr>
        <p:spPr>
          <a:xfrm>
            <a:off x="819150" y="2414587"/>
            <a:ext cx="5080635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Peran Metrik Utama</a:t>
            </a:r>
            <a:endParaRPr/>
          </a:p>
        </p:txBody>
      </p:sp>
      <p:sp>
        <p:nvSpPr>
          <p:cNvPr id="404" name="Google Shape;404;p22"/>
          <p:cNvSpPr txBox="1"/>
          <p:nvPr/>
        </p:nvSpPr>
        <p:spPr>
          <a:xfrm>
            <a:off x="6534150" y="2414587"/>
            <a:ext cx="508063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Mengapa Engagement Tinggi ≠ Konversi Baik?</a:t>
            </a:r>
            <a:endParaRPr/>
          </a:p>
        </p:txBody>
      </p:sp>
      <p:sp>
        <p:nvSpPr>
          <p:cNvPr id="405" name="Google Shape;405;p22"/>
          <p:cNvSpPr txBox="1"/>
          <p:nvPr/>
        </p:nvSpPr>
        <p:spPr>
          <a:xfrm>
            <a:off x="933450" y="2945606"/>
            <a:ext cx="762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06" name="Google Shape;406;p22"/>
          <p:cNvSpPr txBox="1"/>
          <p:nvPr/>
        </p:nvSpPr>
        <p:spPr>
          <a:xfrm>
            <a:off x="1009650" y="2947987"/>
            <a:ext cx="46482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Engagement Rate: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Mengukur kualitas interaksi awal &amp; ketertarikan audiens pada konten/iklan.</a:t>
            </a:r>
            <a:endParaRPr/>
          </a:p>
        </p:txBody>
      </p:sp>
      <p:sp>
        <p:nvSpPr>
          <p:cNvPr id="407" name="Google Shape;407;p22"/>
          <p:cNvSpPr txBox="1"/>
          <p:nvPr/>
        </p:nvSpPr>
        <p:spPr>
          <a:xfrm>
            <a:off x="933450" y="3469481"/>
            <a:ext cx="762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08" name="Google Shape;408;p22"/>
          <p:cNvSpPr txBox="1"/>
          <p:nvPr/>
        </p:nvSpPr>
        <p:spPr>
          <a:xfrm>
            <a:off x="1009650" y="3471862"/>
            <a:ext cx="46482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Bounce Rate: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Mengindikasikan ada/tidaknya ketidaksesuaian (mismatch) ekspektasi dengan landing page.</a:t>
            </a:r>
            <a:endParaRPr/>
          </a:p>
        </p:txBody>
      </p:sp>
      <p:sp>
        <p:nvSpPr>
          <p:cNvPr id="409" name="Google Shape;409;p22"/>
          <p:cNvSpPr txBox="1"/>
          <p:nvPr/>
        </p:nvSpPr>
        <p:spPr>
          <a:xfrm>
            <a:off x="933450" y="3993356"/>
            <a:ext cx="762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10" name="Google Shape;410;p22"/>
          <p:cNvSpPr txBox="1"/>
          <p:nvPr/>
        </p:nvSpPr>
        <p:spPr>
          <a:xfrm>
            <a:off x="1009650" y="3995737"/>
            <a:ext cx="46482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Conversion Rate: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Menjadi indikator utama keberhasilan finansial dan efektivitas bisnis (ROI).</a:t>
            </a:r>
            <a:endParaRPr/>
          </a:p>
        </p:txBody>
      </p:sp>
      <p:sp>
        <p:nvSpPr>
          <p:cNvPr id="411" name="Google Shape;411;p22"/>
          <p:cNvSpPr txBox="1"/>
          <p:nvPr/>
        </p:nvSpPr>
        <p:spPr>
          <a:xfrm>
            <a:off x="6648450" y="2955131"/>
            <a:ext cx="762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12" name="Google Shape;412;p22"/>
          <p:cNvSpPr txBox="1"/>
          <p:nvPr/>
        </p:nvSpPr>
        <p:spPr>
          <a:xfrm>
            <a:off x="6724650" y="2957512"/>
            <a:ext cx="46482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Intent Mismatch: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Konten informatif/menghibur membuat audiens betah (engagement tinggi), namun belum siap membeli.</a:t>
            </a:r>
            <a:endParaRPr/>
          </a:p>
        </p:txBody>
      </p:sp>
      <p:sp>
        <p:nvSpPr>
          <p:cNvPr id="413" name="Google Shape;413;p22"/>
          <p:cNvSpPr txBox="1"/>
          <p:nvPr/>
        </p:nvSpPr>
        <p:spPr>
          <a:xfrm>
            <a:off x="6648450" y="3479006"/>
            <a:ext cx="762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14" name="Google Shape;414;p22"/>
          <p:cNvSpPr txBox="1"/>
          <p:nvPr/>
        </p:nvSpPr>
        <p:spPr>
          <a:xfrm>
            <a:off x="6724650" y="3481387"/>
            <a:ext cx="46482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Hambatan CTA &amp; UX: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Tombol beli kurang jelas atau proses checkout terlalu rumit.</a:t>
            </a:r>
            <a:endParaRPr/>
          </a:p>
        </p:txBody>
      </p:sp>
      <p:sp>
        <p:nvSpPr>
          <p:cNvPr id="415" name="Google Shape;415;p22"/>
          <p:cNvSpPr txBox="1"/>
          <p:nvPr/>
        </p:nvSpPr>
        <p:spPr>
          <a:xfrm>
            <a:off x="6648450" y="4002881"/>
            <a:ext cx="762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16" name="Google Shape;416;p22"/>
          <p:cNvSpPr txBox="1"/>
          <p:nvPr/>
        </p:nvSpPr>
        <p:spPr>
          <a:xfrm>
            <a:off x="6724650" y="4005262"/>
            <a:ext cx="46482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Penawaran Kurang Memikat: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Audiens tertarik tapi tidak ada urgensi/diskon khusus.</a:t>
            </a:r>
            <a:endParaRPr/>
          </a:p>
        </p:txBody>
      </p:sp>
      <p:sp>
        <p:nvSpPr>
          <p:cNvPr id="417" name="Google Shape;417;p22"/>
          <p:cNvSpPr txBox="1"/>
          <p:nvPr/>
        </p:nvSpPr>
        <p:spPr>
          <a:xfrm>
            <a:off x="6648450" y="4526756"/>
            <a:ext cx="762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18" name="Google Shape;418;p22"/>
          <p:cNvSpPr txBox="1"/>
          <p:nvPr/>
        </p:nvSpPr>
        <p:spPr>
          <a:xfrm>
            <a:off x="6724650" y="4529137"/>
            <a:ext cx="46482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Salah Penargetan: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Menjangkau penjelajah konten, bukan pembeli prospektif.</a:t>
            </a:r>
            <a:endParaRPr/>
          </a:p>
        </p:txBody>
      </p:sp>
      <p:sp>
        <p:nvSpPr>
          <p:cNvPr id="419" name="Google Shape;419;p22"/>
          <p:cNvSpPr txBox="1"/>
          <p:nvPr/>
        </p:nvSpPr>
        <p:spPr>
          <a:xfrm>
            <a:off x="714375" y="476250"/>
            <a:ext cx="11451431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Reflection Questions: Metrics &amp; Engagement</a:t>
            </a:r>
            <a:endParaRPr/>
          </a:p>
        </p:txBody>
      </p:sp>
      <p:sp>
        <p:nvSpPr>
          <p:cNvPr id="420" name="Google Shape;420;p22"/>
          <p:cNvSpPr/>
          <p:nvPr/>
        </p:nvSpPr>
        <p:spPr>
          <a:xfrm>
            <a:off x="571500" y="476250"/>
            <a:ext cx="47625" cy="42862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25" name="Google Shape;42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6" name="Google Shape;42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061073"/>
            <a:ext cx="11049000" cy="12217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7" name="Google Shape;427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241798"/>
            <a:ext cx="3524250" cy="1628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8" name="Google Shape;428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33875" y="2241798"/>
            <a:ext cx="3524250" cy="1628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9" name="Google Shape;429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96250" y="2241798"/>
            <a:ext cx="3524250" cy="1628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0" name="Google Shape;430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6324600"/>
            <a:ext cx="121920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23"/>
          <p:cNvSpPr txBox="1"/>
          <p:nvPr/>
        </p:nvSpPr>
        <p:spPr>
          <a:xfrm>
            <a:off x="12401550" y="6477000"/>
            <a:ext cx="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Slide 9</a:t>
            </a:r>
            <a:endParaRPr/>
          </a:p>
        </p:txBody>
      </p:sp>
      <p:sp>
        <p:nvSpPr>
          <p:cNvPr id="432" name="Google Shape;432;p23"/>
          <p:cNvSpPr txBox="1"/>
          <p:nvPr/>
        </p:nvSpPr>
        <p:spPr>
          <a:xfrm>
            <a:off x="800100" y="4454128"/>
            <a:ext cx="1116139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369A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Kesimpulan Penjadwalan Campaign</a:t>
            </a:r>
            <a:endParaRPr/>
          </a:p>
        </p:txBody>
      </p:sp>
      <p:sp>
        <p:nvSpPr>
          <p:cNvPr id="433" name="Google Shape;433;p23"/>
          <p:cNvSpPr txBox="1"/>
          <p:nvPr/>
        </p:nvSpPr>
        <p:spPr>
          <a:xfrm>
            <a:off x="800100" y="4692253"/>
            <a:ext cx="106299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Terbitkan campaign baru atau broadcast promosi di pertengahan minggu (weekdays) untuk mencocokkan pola perilaku kunjungan puncak audiens yang aktif di jam kerja.</a:t>
            </a:r>
            <a:endParaRPr/>
          </a:p>
        </p:txBody>
      </p:sp>
      <p:sp>
        <p:nvSpPr>
          <p:cNvPr id="434" name="Google Shape;434;p23"/>
          <p:cNvSpPr txBox="1"/>
          <p:nvPr/>
        </p:nvSpPr>
        <p:spPr>
          <a:xfrm>
            <a:off x="819150" y="2489448"/>
            <a:ext cx="318039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1. Scale Up Budget</a:t>
            </a:r>
            <a:endParaRPr/>
          </a:p>
        </p:txBody>
      </p:sp>
      <p:sp>
        <p:nvSpPr>
          <p:cNvPr id="435" name="Google Shape;435;p23"/>
          <p:cNvSpPr txBox="1"/>
          <p:nvPr/>
        </p:nvSpPr>
        <p:spPr>
          <a:xfrm>
            <a:off x="819150" y="2822823"/>
            <a:ext cx="302895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Alokasikan porsi anggaran marketing lebih besar ke campaign </a:t>
            </a:r>
            <a:r>
              <a:rPr b="1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Search</a:t>
            </a: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dan </a:t>
            </a:r>
            <a:r>
              <a:rPr b="1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Performance Max</a:t>
            </a: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karena terbukti mendatangkan traffic intent tinggi serta revenue terbesar.</a:t>
            </a:r>
            <a:endParaRPr/>
          </a:p>
        </p:txBody>
      </p:sp>
      <p:sp>
        <p:nvSpPr>
          <p:cNvPr id="436" name="Google Shape;436;p23"/>
          <p:cNvSpPr txBox="1"/>
          <p:nvPr/>
        </p:nvSpPr>
        <p:spPr>
          <a:xfrm>
            <a:off x="4581525" y="2489448"/>
            <a:ext cx="318039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2. Optimasi Landing Page</a:t>
            </a:r>
            <a:endParaRPr/>
          </a:p>
        </p:txBody>
      </p:sp>
      <p:sp>
        <p:nvSpPr>
          <p:cNvPr id="437" name="Google Shape;437;p23"/>
          <p:cNvSpPr txBox="1"/>
          <p:nvPr/>
        </p:nvSpPr>
        <p:spPr>
          <a:xfrm>
            <a:off x="4581525" y="2822823"/>
            <a:ext cx="302895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Evaluasi ulang kecepatan muat, tampilan, dan copywriting pada campaign musiman ber-bounce rate tinggi guna menghilangkan ketidaksesuaian ekspektasi audiens.</a:t>
            </a:r>
            <a:endParaRPr/>
          </a:p>
        </p:txBody>
      </p:sp>
      <p:sp>
        <p:nvSpPr>
          <p:cNvPr id="438" name="Google Shape;438;p23"/>
          <p:cNvSpPr txBox="1"/>
          <p:nvPr/>
        </p:nvSpPr>
        <p:spPr>
          <a:xfrm>
            <a:off x="8343900" y="2489448"/>
            <a:ext cx="318039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3. Jalankan Remarketing</a:t>
            </a:r>
            <a:endParaRPr/>
          </a:p>
        </p:txBody>
      </p:sp>
      <p:sp>
        <p:nvSpPr>
          <p:cNvPr id="439" name="Google Shape;439;p23"/>
          <p:cNvSpPr txBox="1"/>
          <p:nvPr/>
        </p:nvSpPr>
        <p:spPr>
          <a:xfrm>
            <a:off x="8343900" y="2822823"/>
            <a:ext cx="302895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Buat campaign retargeting khusus menyasar </a:t>
            </a:r>
            <a:r>
              <a:rPr b="0" i="1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New Users</a:t>
            </a: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dari periode spike pertengahan bulan guna mendorong kunjungan berulang dan transaksi susulan.</a:t>
            </a:r>
            <a:endParaRPr/>
          </a:p>
        </p:txBody>
      </p:sp>
      <p:sp>
        <p:nvSpPr>
          <p:cNvPr id="440" name="Google Shape;440;p23"/>
          <p:cNvSpPr txBox="1"/>
          <p:nvPr/>
        </p:nvSpPr>
        <p:spPr>
          <a:xfrm>
            <a:off x="714375" y="476250"/>
            <a:ext cx="11451431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Insight &amp; Rekomendasi Strategis Campaign</a:t>
            </a:r>
            <a:endParaRPr/>
          </a:p>
        </p:txBody>
      </p:sp>
      <p:sp>
        <p:nvSpPr>
          <p:cNvPr id="441" name="Google Shape;441;p23"/>
          <p:cNvSpPr/>
          <p:nvPr/>
        </p:nvSpPr>
        <p:spPr>
          <a:xfrm>
            <a:off x="571500" y="476250"/>
            <a:ext cx="47625" cy="42862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